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483515d-367c-1f90-d145-cf4c285bb365}">
          <p14:sldIdLst>
            <p14:sldId id="256"/>
          </p14:sldIdLst>
        </p14:section>
        <p14:section name="Design" id="{e9a93a07-f5d2-84e0-88fb-e8e0b23136f9}">
          <p14:sldIdLst>
            <p14:sldId id="257"/>
            <p14:sldId id="258"/>
          </p14:sldIdLst>
        </p14:section>
        <p14:section name="Results" id="{e61a1acb-2510-dd2a-5dcb-b05c6d4f2dd6}">
          <p14:sldIdLst>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B2A20"/>
                </a:solidFill>
                <a:latin typeface="+mn-lt"/>
              </a:defRPr>
            </a:pPr>
            <a:r>
              <a:rPr sz="1200" b="0" i="0" u="none" strike="noStrike">
                <a:solidFill>
                  <a:srgbClr val="3B2A20"/>
                </a:solidFill>
                <a:latin typeface="+mn-lt"/>
              </a:rPr>
              <a:t>Brazil Cerrado green coffee, lb at end of day</a:t>
            </a:r>
          </a:p>
        </c:rich>
      </c:tx>
      <c:layout/>
      <c:overlay val="0"/>
    </c:title>
    <c:autoTitleDeleted val="0"/>
    <c:plotArea>
      <c:layout/>
      <c:lineChart>
        <c:varyColors val="0"/>
        <c:ser>
          <c:idx val="0"/>
          <c:order val="0"/>
          <c:tx>
            <c:strRef>
              <c:f>Sheet1!$B$1</c:f>
              <c:strCache>
                <c:ptCount val="1"/>
                <c:pt idx="0">
                  <c:v>Before: wait for PO-2211</c:v>
                </c:pt>
              </c:strCache>
            </c:strRef>
          </c:tx>
          <c:spPr>
            <a:solidFill>
              <a:srgbClr val="B23A3A"/>
            </a:solidFill>
            <a:ln w="31750" cap="flat">
              <a:solidFill>
                <a:srgbClr val="B23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23A3A"/>
              </a:solidFill>
              <a:ln w="9525" cap="flat">
                <a:solidFill>
                  <a:srgbClr val="B23A3A"/>
                </a:solidFill>
                <a:prstDash val="solid"/>
                <a:round/>
              </a:ln>
              <a:effectLst/>
            </c:spPr>
          </c:marker>
          <c:cat>
            <c:multiLvlStrRef>
              <c:f>Sheet1!$A$2:$A$19</c:f>
              <c:multiLvlStrCache>
                <c:ptCount val="18"/>
                <c:lvl>
                  <c:pt idx="0">
                    <c:v>Oct 26</c:v>
                  </c:pt>
                  <c:pt idx="1">
                    <c:v>Oct 27</c:v>
                  </c:pt>
                  <c:pt idx="2">
                    <c:v>Oct 28</c:v>
                  </c:pt>
                  <c:pt idx="3">
                    <c:v>Oct 29</c:v>
                  </c:pt>
                  <c:pt idx="4">
                    <c:v>Oct 30</c:v>
                  </c:pt>
                  <c:pt idx="5">
                    <c:v>Oct 31</c:v>
                  </c:pt>
                  <c:pt idx="6">
                    <c:v>Nov 1</c:v>
                  </c:pt>
                  <c:pt idx="7">
                    <c:v>Nov 2</c:v>
                  </c:pt>
                  <c:pt idx="8">
                    <c:v>Nov 3</c:v>
                  </c:pt>
                  <c:pt idx="9">
                    <c:v>Nov 4</c:v>
                  </c:pt>
                  <c:pt idx="10">
                    <c:v>Nov 5</c:v>
                  </c:pt>
                  <c:pt idx="11">
                    <c:v>Nov 6</c:v>
                  </c:pt>
                  <c:pt idx="12">
                    <c:v>Nov 7</c:v>
                  </c:pt>
                  <c:pt idx="13">
                    <c:v>Nov 8</c:v>
                  </c:pt>
                  <c:pt idx="14">
                    <c:v>Nov 9</c:v>
                  </c:pt>
                  <c:pt idx="15">
                    <c:v>Nov 10</c:v>
                  </c:pt>
                  <c:pt idx="16">
                    <c:v>Nov 11</c:v>
                  </c:pt>
                  <c:pt idx="17">
                    <c:v>Nov 12</c:v>
                  </c:pt>
                </c:lvl>
              </c:multiLvlStrCache>
            </c:multiLvlStrRef>
          </c:cat>
          <c:val>
            <c:numRef>
              <c:f>Sheet1!$B$2:$B$19</c:f>
              <c:numCache>
                <c:formatCode>General</c:formatCode>
                <c:ptCount val="18"/>
                <c:pt idx="0">
                  <c:v>530</c:v>
                </c:pt>
                <c:pt idx="1">
                  <c:v>460</c:v>
                </c:pt>
                <c:pt idx="2">
                  <c:v>390</c:v>
                </c:pt>
                <c:pt idx="3">
                  <c:v>320</c:v>
                </c:pt>
                <c:pt idx="4">
                  <c:v>250</c:v>
                </c:pt>
                <c:pt idx="5">
                  <c:v>180</c:v>
                </c:pt>
                <c:pt idx="6">
                  <c:v>110</c:v>
                </c:pt>
                <c:pt idx="7">
                  <c:v>40</c:v>
                </c:pt>
                <c:pt idx="8">
                  <c:v>0</c:v>
                </c:pt>
                <c:pt idx="9">
                  <c:v>0</c:v>
                </c:pt>
                <c:pt idx="10">
                  <c:v>0</c:v>
                </c:pt>
                <c:pt idx="11">
                  <c:v>0</c:v>
                </c:pt>
                <c:pt idx="12">
                  <c:v>0</c:v>
                </c:pt>
                <c:pt idx="13">
                  <c:v>0</c:v>
                </c:pt>
                <c:pt idx="14">
                  <c:v>1430</c:v>
                </c:pt>
                <c:pt idx="15">
                  <c:v>1360</c:v>
                </c:pt>
                <c:pt idx="16">
                  <c:v>1290</c:v>
                </c:pt>
                <c:pt idx="17">
                  <c:v>1220</c:v>
                </c:pt>
              </c:numCache>
            </c:numRef>
          </c:val>
          <c:smooth val="0"/>
        </c:ser>
        <c:ser>
          <c:idx val="1"/>
          <c:order val="1"/>
          <c:tx>
            <c:strRef>
              <c:f>Sheet1!$C$1</c:f>
              <c:strCache>
                <c:ptCount val="1"/>
                <c:pt idx="0">
                  <c:v>After: bridge order PO-2231</c:v>
                </c:pt>
              </c:strCache>
            </c:strRef>
          </c:tx>
          <c:spPr>
            <a:solidFill>
              <a:srgbClr val="1F7A6E"/>
            </a:solidFill>
            <a:ln w="31750" cap="flat">
              <a:solidFill>
                <a:srgbClr val="1F7A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7A6E"/>
              </a:solidFill>
              <a:ln w="9525" cap="flat">
                <a:solidFill>
                  <a:srgbClr val="1F7A6E"/>
                </a:solidFill>
                <a:prstDash val="solid"/>
                <a:round/>
              </a:ln>
              <a:effectLst/>
            </c:spPr>
          </c:marker>
          <c:cat>
            <c:multiLvlStrRef>
              <c:f>Sheet1!$A$2:$A$19</c:f>
              <c:multiLvlStrCache>
                <c:ptCount val="18"/>
                <c:lvl>
                  <c:pt idx="0">
                    <c:v>Oct 26</c:v>
                  </c:pt>
                  <c:pt idx="1">
                    <c:v>Oct 27</c:v>
                  </c:pt>
                  <c:pt idx="2">
                    <c:v>Oct 28</c:v>
                  </c:pt>
                  <c:pt idx="3">
                    <c:v>Oct 29</c:v>
                  </c:pt>
                  <c:pt idx="4">
                    <c:v>Oct 30</c:v>
                  </c:pt>
                  <c:pt idx="5">
                    <c:v>Oct 31</c:v>
                  </c:pt>
                  <c:pt idx="6">
                    <c:v>Nov 1</c:v>
                  </c:pt>
                  <c:pt idx="7">
                    <c:v>Nov 2</c:v>
                  </c:pt>
                  <c:pt idx="8">
                    <c:v>Nov 3</c:v>
                  </c:pt>
                  <c:pt idx="9">
                    <c:v>Nov 4</c:v>
                  </c:pt>
                  <c:pt idx="10">
                    <c:v>Nov 5</c:v>
                  </c:pt>
                  <c:pt idx="11">
                    <c:v>Nov 6</c:v>
                  </c:pt>
                  <c:pt idx="12">
                    <c:v>Nov 7</c:v>
                  </c:pt>
                  <c:pt idx="13">
                    <c:v>Nov 8</c:v>
                  </c:pt>
                  <c:pt idx="14">
                    <c:v>Nov 9</c:v>
                  </c:pt>
                  <c:pt idx="15">
                    <c:v>Nov 10</c:v>
                  </c:pt>
                  <c:pt idx="16">
                    <c:v>Nov 11</c:v>
                  </c:pt>
                  <c:pt idx="17">
                    <c:v>Nov 12</c:v>
                  </c:pt>
                </c:lvl>
              </c:multiLvlStrCache>
            </c:multiLvlStrRef>
          </c:cat>
          <c:val>
            <c:numRef>
              <c:f>Sheet1!$C$2:$C$19</c:f>
              <c:numCache>
                <c:formatCode>General</c:formatCode>
                <c:ptCount val="18"/>
                <c:pt idx="0">
                  <c:v>530</c:v>
                </c:pt>
                <c:pt idx="1">
                  <c:v>460</c:v>
                </c:pt>
                <c:pt idx="2">
                  <c:v>390</c:v>
                </c:pt>
                <c:pt idx="3">
                  <c:v>820</c:v>
                </c:pt>
                <c:pt idx="4">
                  <c:v>750</c:v>
                </c:pt>
                <c:pt idx="5">
                  <c:v>680</c:v>
                </c:pt>
                <c:pt idx="6">
                  <c:v>610</c:v>
                </c:pt>
                <c:pt idx="7">
                  <c:v>540</c:v>
                </c:pt>
                <c:pt idx="8">
                  <c:v>470</c:v>
                </c:pt>
                <c:pt idx="9">
                  <c:v>400</c:v>
                </c:pt>
                <c:pt idx="10">
                  <c:v>330</c:v>
                </c:pt>
                <c:pt idx="11">
                  <c:v>260</c:v>
                </c:pt>
                <c:pt idx="12">
                  <c:v>190</c:v>
                </c:pt>
                <c:pt idx="13">
                  <c:v>120</c:v>
                </c:pt>
                <c:pt idx="14">
                  <c:v>1550</c:v>
                </c:pt>
                <c:pt idx="15">
                  <c:v>1480</c:v>
                </c:pt>
                <c:pt idx="16">
                  <c:v>1410</c:v>
                </c:pt>
                <c:pt idx="17">
                  <c:v>1340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8F98"/>
                </a:solidFill>
                <a:latin typeface="+mn-lt"/>
              </a:defRPr>
            </a:pPr>
            <a:endParaRPr lang="en-US"/>
          </a:p>
        </c:txPr>
        <c:crossAx val="2094734552"/>
        <c:crosses val="autoZero"/>
        <c:auto val="1"/>
        <c:lblAlgn val="ctr"/>
        <c:noMultiLvlLbl val="1"/>
        <c:tickLblSkip val="3"/>
      </c:catAx>
      <c:valAx>
        <c:axId val="2094734552"/>
        <c:scaling>
          <c:orientation val="minMax"/>
          <c:min val="0"/>
        </c:scaling>
        <c:delete val="0"/>
        <c:axPos val="l"/>
        <c:majorGridlines>
          <c:spPr>
            <a:ln w="6350" cap="flat">
              <a:solidFill>
                <a:srgbClr val="DD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F9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1A1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Ridgeline Coffee is the same simulated roaster from our customer service chatbot, but this time we're behind the scenes. Atlas helps the operations team answer three kinds of questions: do we have enough stock, where are our shipments, and who should we buy from. Each one goes to its own specialist agent, and the conversation is kept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hits the router first. Gemini reads the recent conversation and picks exactly one specialist, so a follow-up like 'go with the fastest option' still lands on procurement. The specialist loops with its own tools until it can answer, and MemorySaver checkpoints the whole state after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scoped tool access strictly. The inventory agent can't place orders, and procurement can't change shipment data. When the manager asks if we'll run out, the agent has to call forecast_stockout rather than guess. The system prompt also forbids placing an order without explicit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demo scenario. Brazil Cerrado is the base of our house blend, and we had 8.6 days of cover. The ocean shipment was 7 days late, so the forecast showed us out of stock from November 3 to 8, about 380 pounds of unmet demand. Atlas compared suppliers and recommended a domestic importer that delivers in 3 days. After the 500 pound order, the forecast shows no stockout.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keyed by thread ID. In the morning conversation, the manager never repeats the PO number or the supplier: 'that shipment' and 'the fastest option' are resolved from memory. A new shift on a new thread asks 'when does my PO arrive?' and Atlas can't know which one, so it lists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live run. Five messages, each routed to a different specialist, with three tool-backed answers and one purchase order. The last turn uses no tools at all: the recap comes entirely from memory. The full transcript and the notebook are in our GitHub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5669280" cy="32004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1051560"/>
            <a:ext cx="5486400"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548640" y="2834640"/>
            <a:ext cx="5303520" cy="8229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5" name="Text 0"/>
          <p:cNvSpPr/>
          <p:nvPr>
            <p:ph idx="103" type="body" hasCustomPrompt="1"/>
          </p:nvPr>
        </p:nvSpPr>
        <p:spPr>
          <a:xfrm>
            <a:off x="548640" y="4160520"/>
            <a:ext cx="8046720" cy="457200"/>
          </a:xfrm>
          <a:prstGeom prst="rect">
            <a:avLst/>
          </a:prstGeom>
          <a:noFill/>
          <a:ln/>
        </p:spPr>
        <p:txBody>
          <a:bodyPr wrap="square" rtlCol="0"/>
          <a:lstStyle>
            <a:lvl1pPr indent="0" marL="0">
              <a:buNone/>
              <a:defRPr lang="en-US" sz="1200" dirty="0">
                <a:solidFill>
                  <a:schemeClr val="bg2"/>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4754880"/>
            <a:ext cx="6400800" cy="274320"/>
          </a:xfrm>
          <a:prstGeom prst="rect">
            <a:avLst/>
          </a:prstGeom>
          <a:noFill/>
          <a:ln/>
        </p:spPr>
        <p:txBody>
          <a:bodyPr wrap="square" lIns="0" tIns="0" rIns="0" bIns="0" rtlCol="0" anchor="t"/>
          <a:lstStyle/>
          <a:p>
            <a:pPr indent="0" marL="0">
              <a:buNone/>
            </a:pPr>
            <a:r>
              <a:rPr lang="en-US" sz="1000" dirty="0">
                <a:solidFill>
                  <a:schemeClr val="accent6"/>
                </a:solidFill>
              </a:rPr>
              <a:t>Ridgeline Coffee Co. · Agentic AI in Supply Chain · Ebaaddies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5669280" cy="320040"/>
          </a:xfrm>
          <a:prstGeom prst="rect">
            <a:avLst/>
          </a:prstGeom>
          <a:noFill/>
          <a:ln/>
        </p:spPr>
        <p:txBody>
          <a:bodyPr wrap="square" lIns="0" tIns="0" rIns="0" bIns="0" rtlCol="0"/>
          <a:lstStyle/>
          <a:p>
            <a:pPr indent="0" marL="0">
              <a:buNone/>
            </a:pPr>
            <a:r>
              <a:rPr lang="en-US" sz="1200" b="1" spc="200" kern="0" dirty="0">
                <a:solidFill>
                  <a:schemeClr val="accent2"/>
                </a:solidFill>
              </a:rPr>
              <a:t>AGENTIC AI IN SUPPLY CHAIN</a:t>
            </a:r>
            <a:endParaRPr lang="en-US" sz="1200" dirty="0"/>
          </a:p>
        </p:txBody>
      </p:sp>
      <p:sp>
        <p:nvSpPr>
          <p:cNvPr id="3" name="Text 0"/>
          <p:cNvSpPr/>
          <p:nvPr>
            <p:ph idx="101" type="title" hasCustomPrompt="1"/>
          </p:nvPr>
        </p:nvSpPr>
        <p:spPr>
          <a:xfrm>
            <a:off x="548640" y="1051560"/>
            <a:ext cx="5486400" cy="1737360"/>
          </a:xfrm>
          <a:prstGeom prst="rect">
            <a:avLst/>
          </a:prstGeom>
          <a:noFill/>
          <a:ln/>
        </p:spPr>
        <p:txBody>
          <a:bodyPr wrap="square" lIns="0" tIns="0" rIns="0" bIns="0" rtlCol="0" anchor="t"/>
          <a:lstStyle/>
          <a:p>
            <a:pPr algn="l" indent="0" marL="0">
              <a:buNone/>
            </a:pPr>
            <a:r>
              <a:rPr lang="en-US" sz="3800" b="1" dirty="0">
                <a:solidFill>
                  <a:schemeClr val="bg1"/>
                </a:solidFill>
              </a:rPr>
              <a:t>One assistant for stock, shipments and suppliers</a:t>
            </a:r>
            <a:endParaRPr lang="en-US" sz="3800" dirty="0"/>
          </a:p>
        </p:txBody>
      </p:sp>
      <p:sp>
        <p:nvSpPr>
          <p:cNvPr id="4" name="Text 0"/>
          <p:cNvSpPr/>
          <p:nvPr>
            <p:ph idx="102" type="body" hasCustomPrompt="1"/>
          </p:nvPr>
        </p:nvSpPr>
        <p:spPr>
          <a:xfrm>
            <a:off x="548640" y="2834640"/>
            <a:ext cx="5303520" cy="822960"/>
          </a:xfrm>
          <a:prstGeom prst="rect">
            <a:avLst/>
          </a:prstGeom>
          <a:noFill/>
          <a:ln/>
        </p:spPr>
        <p:txBody>
          <a:bodyPr wrap="square" lIns="0" tIns="0" rIns="0" bIns="0" rtlCol="0" anchor="t"/>
          <a:lstStyle/>
          <a:p>
            <a:pPr indent="0" marL="0">
              <a:buNone/>
            </a:pPr>
            <a:r>
              <a:rPr lang="en-US" sz="1600" dirty="0">
                <a:solidFill>
                  <a:schemeClr val="bg2"/>
                </a:solidFill>
              </a:rPr>
              <a:t>Atlas, a multi-agent LangGraph assistant that keeps Ridgeline Coffee's green coffee in stock</a:t>
            </a:r>
            <a:endParaRPr lang="en-US" sz="1600" dirty="0"/>
          </a:p>
        </p:txBody>
      </p:sp>
      <p:sp>
        <p:nvSpPr>
          <p:cNvPr id="5" name="Text 0"/>
          <p:cNvSpPr/>
          <p:nvPr>
            <p:ph idx="103" type="body" hasCustomPrompt="1"/>
          </p:nvPr>
        </p:nvSpPr>
        <p:spPr>
          <a:xfrm>
            <a:off x="548640" y="4160520"/>
            <a:ext cx="8046720" cy="457200"/>
          </a:xfrm>
          <a:prstGeom prst="rect">
            <a:avLst/>
          </a:prstGeom>
          <a:noFill/>
          <a:ln/>
        </p:spPr>
        <p:txBody>
          <a:bodyPr wrap="square" lIns="0" tIns="0" rIns="0" bIns="0" rtlCol="0"/>
          <a:lstStyle/>
          <a:p>
            <a:pPr indent="0" marL="0">
              <a:buNone/>
            </a:pPr>
            <a:r>
              <a:rPr lang="en-US" sz="1200" dirty="0">
                <a:solidFill>
                  <a:schemeClr val="bg2"/>
                </a:solidFill>
              </a:rPr>
              <a:t>Musa Rana · Johann De Boda · Cash Johnson · Samera Hayer · Ebaad Usmani · Jacob Laplante</a:t>
            </a:r>
            <a:endParaRPr lang="en-US" sz="1200" dirty="0"/>
          </a:p>
        </p:txBody>
      </p:sp>
      <p:sp>
        <p:nvSpPr>
          <p:cNvPr id="6" name="Inventory circle"/>
          <p:cNvSpPr/>
          <p:nvPr/>
        </p:nvSpPr>
        <p:spPr>
          <a:xfrm>
            <a:off x="6675120" y="731520"/>
            <a:ext cx="777240" cy="777240"/>
          </a:xfrm>
          <a:prstGeom prst="ellipse">
            <a:avLst/>
          </a:prstGeom>
          <a:solidFill>
            <a:schemeClr val="accent1"/>
          </a:solidFill>
          <a:ln w="12700">
            <a:solidFill>
              <a:schemeClr val="accent1"/>
            </a:solidFill>
            <a:prstDash val="solid"/>
          </a:ln>
        </p:spPr>
      </p:sp>
      <p:pic>
        <p:nvPicPr>
          <p:cNvPr id="7" name="Inventory icon" descr="Inventory icon">    </p:cNvPr>
          <p:cNvPicPr>
            <a:picLocks noChangeAspect="1"/>
          </p:cNvPicPr>
          <p:nvPr/>
        </p:nvPicPr>
        <p:blipFill>
          <a:blip r:embed="rId1"/>
          <a:stretch>
            <a:fillRect/>
          </a:stretch>
        </p:blipFill>
        <p:spPr>
          <a:xfrm>
            <a:off x="6869430" y="925830"/>
            <a:ext cx="388620" cy="388620"/>
          </a:xfrm>
          <a:prstGeom prst="rect">
            <a:avLst/>
          </a:prstGeom>
        </p:spPr>
      </p:pic>
      <p:sp>
        <p:nvSpPr>
          <p:cNvPr id="8" name="Inventory label"/>
          <p:cNvSpPr txBox="1"/>
          <p:nvPr/>
        </p:nvSpPr>
        <p:spPr>
          <a:xfrm>
            <a:off x="7589520" y="914400"/>
            <a:ext cx="1371600" cy="411480"/>
          </a:xfrm>
          <a:prstGeom prst="rect">
            <a:avLst/>
          </a:prstGeom>
          <a:noFill/>
          <a:ln/>
        </p:spPr>
        <p:txBody>
          <a:bodyPr wrap="square" lIns="0" tIns="0" rIns="0" bIns="0" rtlCol="0" anchor="ctr"/>
          <a:lstStyle/>
          <a:p>
            <a:pPr indent="0" marL="0">
              <a:buNone/>
            </a:pPr>
            <a:r>
              <a:rPr lang="en-US" sz="1500" b="1" dirty="0">
                <a:solidFill>
                  <a:schemeClr val="bg1"/>
                </a:solidFill>
              </a:rPr>
              <a:t>Inventory</a:t>
            </a:r>
            <a:endParaRPr lang="en-US" sz="1500" dirty="0"/>
          </a:p>
        </p:txBody>
      </p:sp>
      <p:sp>
        <p:nvSpPr>
          <p:cNvPr id="9" name="Logistics circle"/>
          <p:cNvSpPr/>
          <p:nvPr/>
        </p:nvSpPr>
        <p:spPr>
          <a:xfrm>
            <a:off x="6675120" y="1828800"/>
            <a:ext cx="777240" cy="777240"/>
          </a:xfrm>
          <a:prstGeom prst="ellipse">
            <a:avLst/>
          </a:prstGeom>
          <a:solidFill>
            <a:schemeClr val="accent2"/>
          </a:solidFill>
          <a:ln w="12700">
            <a:solidFill>
              <a:schemeClr val="accent2"/>
            </a:solidFill>
            <a:prstDash val="solid"/>
          </a:ln>
        </p:spPr>
      </p:sp>
      <p:pic>
        <p:nvPicPr>
          <p:cNvPr id="10" name="Logistics icon" descr="Logistics icon">    </p:cNvPr>
          <p:cNvPicPr>
            <a:picLocks noChangeAspect="1"/>
          </p:cNvPicPr>
          <p:nvPr/>
        </p:nvPicPr>
        <p:blipFill>
          <a:blip r:embed="rId2"/>
          <a:stretch>
            <a:fillRect/>
          </a:stretch>
        </p:blipFill>
        <p:spPr>
          <a:xfrm>
            <a:off x="6869430" y="2023110"/>
            <a:ext cx="388620" cy="388620"/>
          </a:xfrm>
          <a:prstGeom prst="rect">
            <a:avLst/>
          </a:prstGeom>
        </p:spPr>
      </p:pic>
      <p:sp>
        <p:nvSpPr>
          <p:cNvPr id="11" name="Logistics label"/>
          <p:cNvSpPr txBox="1"/>
          <p:nvPr/>
        </p:nvSpPr>
        <p:spPr>
          <a:xfrm>
            <a:off x="7589520" y="2011680"/>
            <a:ext cx="1371600" cy="411480"/>
          </a:xfrm>
          <a:prstGeom prst="rect">
            <a:avLst/>
          </a:prstGeom>
          <a:noFill/>
          <a:ln/>
        </p:spPr>
        <p:txBody>
          <a:bodyPr wrap="square" lIns="0" tIns="0" rIns="0" bIns="0" rtlCol="0" anchor="ctr"/>
          <a:lstStyle/>
          <a:p>
            <a:pPr indent="0" marL="0">
              <a:buNone/>
            </a:pPr>
            <a:r>
              <a:rPr lang="en-US" sz="1500" b="1" dirty="0">
                <a:solidFill>
                  <a:schemeClr val="bg1"/>
                </a:solidFill>
              </a:rPr>
              <a:t>Logistics</a:t>
            </a:r>
            <a:endParaRPr lang="en-US" sz="1500" dirty="0"/>
          </a:p>
        </p:txBody>
      </p:sp>
      <p:sp>
        <p:nvSpPr>
          <p:cNvPr id="12" name="Procurement circle"/>
          <p:cNvSpPr/>
          <p:nvPr/>
        </p:nvSpPr>
        <p:spPr>
          <a:xfrm>
            <a:off x="6675120" y="2926080"/>
            <a:ext cx="777240" cy="777240"/>
          </a:xfrm>
          <a:prstGeom prst="ellipse">
            <a:avLst/>
          </a:prstGeom>
          <a:solidFill>
            <a:schemeClr val="accent3"/>
          </a:solidFill>
          <a:ln w="12700">
            <a:solidFill>
              <a:schemeClr val="accent3"/>
            </a:solidFill>
            <a:prstDash val="solid"/>
          </a:ln>
        </p:spPr>
      </p:sp>
      <p:pic>
        <p:nvPicPr>
          <p:cNvPr id="13" name="Procurement icon" descr="Procurement icon">    </p:cNvPr>
          <p:cNvPicPr>
            <a:picLocks noChangeAspect="1"/>
          </p:cNvPicPr>
          <p:nvPr/>
        </p:nvPicPr>
        <p:blipFill>
          <a:blip r:embed="rId3"/>
          <a:stretch>
            <a:fillRect/>
          </a:stretch>
        </p:blipFill>
        <p:spPr>
          <a:xfrm>
            <a:off x="6869430" y="3120390"/>
            <a:ext cx="388620" cy="388620"/>
          </a:xfrm>
          <a:prstGeom prst="rect">
            <a:avLst/>
          </a:prstGeom>
        </p:spPr>
      </p:pic>
      <p:sp>
        <p:nvSpPr>
          <p:cNvPr id="14" name="Procurement label"/>
          <p:cNvSpPr txBox="1"/>
          <p:nvPr/>
        </p:nvSpPr>
        <p:spPr>
          <a:xfrm>
            <a:off x="7589520" y="3108960"/>
            <a:ext cx="1371600" cy="411480"/>
          </a:xfrm>
          <a:prstGeom prst="rect">
            <a:avLst/>
          </a:prstGeom>
          <a:noFill/>
          <a:ln/>
        </p:spPr>
        <p:txBody>
          <a:bodyPr wrap="square" lIns="0" tIns="0" rIns="0" bIns="0" rtlCol="0" anchor="ctr"/>
          <a:lstStyle/>
          <a:p>
            <a:pPr indent="0" marL="0">
              <a:buNone/>
            </a:pPr>
            <a:r>
              <a:rPr lang="en-US" sz="1500" b="1" dirty="0">
                <a:solidFill>
                  <a:schemeClr val="bg1"/>
                </a:solidFill>
              </a:rPr>
              <a:t>Procurement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ARCHITECTURE</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2800" b="1" dirty="0">
                <a:solidFill>
                  <a:schemeClr val="tx2"/>
                </a:solidFill>
              </a:rPr>
              <a:t>A router sends every request to the right specialist</a:t>
            </a:r>
            <a:endParaRPr lang="en-US" sz="2800" dirty="0"/>
          </a:p>
        </p:txBody>
      </p:sp>
      <p:sp>
        <p:nvSpPr>
          <p:cNvPr id="4" name="Ops manager circle"/>
          <p:cNvSpPr/>
          <p:nvPr/>
        </p:nvSpPr>
        <p:spPr>
          <a:xfrm>
            <a:off x="548640" y="2057400"/>
            <a:ext cx="731520" cy="731520"/>
          </a:xfrm>
          <a:prstGeom prst="ellipse">
            <a:avLst/>
          </a:prstGeom>
          <a:solidFill>
            <a:schemeClr val="tx2"/>
          </a:solidFill>
          <a:ln w="12700">
            <a:solidFill>
              <a:schemeClr val="tx2"/>
            </a:solidFill>
            <a:prstDash val="solid"/>
          </a:ln>
        </p:spPr>
      </p:sp>
      <p:pic>
        <p:nvPicPr>
          <p:cNvPr id="5" name="Ops manager icon" descr="Ops manager icon">    </p:cNvPr>
          <p:cNvPicPr>
            <a:picLocks noChangeAspect="1"/>
          </p:cNvPicPr>
          <p:nvPr/>
        </p:nvPicPr>
        <p:blipFill>
          <a:blip r:embed="rId1"/>
          <a:stretch>
            <a:fillRect/>
          </a:stretch>
        </p:blipFill>
        <p:spPr>
          <a:xfrm>
            <a:off x="731520" y="2240280"/>
            <a:ext cx="365760" cy="365760"/>
          </a:xfrm>
          <a:prstGeom prst="rect">
            <a:avLst/>
          </a:prstGeom>
        </p:spPr>
      </p:pic>
      <p:sp>
        <p:nvSpPr>
          <p:cNvPr id="6" name="Text 3"/>
          <p:cNvSpPr txBox="1"/>
          <p:nvPr/>
        </p:nvSpPr>
        <p:spPr>
          <a:xfrm>
            <a:off x="274320" y="2834640"/>
            <a:ext cx="1280160" cy="274320"/>
          </a:xfrm>
          <a:prstGeom prst="rect">
            <a:avLst/>
          </a:prstGeom>
          <a:noFill/>
          <a:ln/>
        </p:spPr>
        <p:txBody>
          <a:bodyPr wrap="square" lIns="0" tIns="0" rIns="0" bIns="0" rtlCol="0" anchor="ctr"/>
          <a:lstStyle/>
          <a:p>
            <a:pPr algn="ctr" indent="0" marL="0">
              <a:buNone/>
            </a:pPr>
            <a:r>
              <a:rPr lang="en-US" sz="1200" b="1" dirty="0">
                <a:solidFill>
                  <a:schemeClr val="tx2"/>
                </a:solidFill>
              </a:rPr>
              <a:t>Ops manager</a:t>
            </a:r>
            <a:endParaRPr lang="en-US" sz="1200" dirty="0"/>
          </a:p>
        </p:txBody>
      </p:sp>
      <p:sp>
        <p:nvSpPr>
          <p:cNvPr id="7" name="Shape 4"/>
          <p:cNvSpPr/>
          <p:nvPr/>
        </p:nvSpPr>
        <p:spPr>
          <a:xfrm>
            <a:off x="1371600" y="2423160"/>
            <a:ext cx="548640" cy="0"/>
          </a:xfrm>
          <a:prstGeom prst="line">
            <a:avLst/>
          </a:prstGeom>
          <a:noFill/>
          <a:ln w="19050">
            <a:solidFill>
              <a:schemeClr val="accent6"/>
            </a:solidFill>
            <a:prstDash val="solid"/>
            <a:tailEnd type="triangle"/>
          </a:ln>
        </p:spPr>
      </p:sp>
      <p:sp>
        <p:nvSpPr>
          <p:cNvPr id="8" name="Router circle"/>
          <p:cNvSpPr/>
          <p:nvPr/>
        </p:nvSpPr>
        <p:spPr>
          <a:xfrm>
            <a:off x="2011680" y="2057400"/>
            <a:ext cx="731520" cy="731520"/>
          </a:xfrm>
          <a:prstGeom prst="ellipse">
            <a:avLst/>
          </a:prstGeom>
          <a:solidFill>
            <a:schemeClr val="tx1"/>
          </a:solidFill>
          <a:ln w="12700">
            <a:solidFill>
              <a:schemeClr val="tx1"/>
            </a:solidFill>
            <a:prstDash val="solid"/>
          </a:ln>
        </p:spPr>
      </p:sp>
      <p:pic>
        <p:nvPicPr>
          <p:cNvPr id="9" name="Router icon" descr="Router icon">    </p:cNvPr>
          <p:cNvPicPr>
            <a:picLocks noChangeAspect="1"/>
          </p:cNvPicPr>
          <p:nvPr/>
        </p:nvPicPr>
        <p:blipFill>
          <a:blip r:embed="rId2"/>
          <a:stretch>
            <a:fillRect/>
          </a:stretch>
        </p:blipFill>
        <p:spPr>
          <a:xfrm>
            <a:off x="2194560" y="2240280"/>
            <a:ext cx="365760" cy="365760"/>
          </a:xfrm>
          <a:prstGeom prst="rect">
            <a:avLst/>
          </a:prstGeom>
        </p:spPr>
      </p:pic>
      <p:sp>
        <p:nvSpPr>
          <p:cNvPr id="10" name="Text 6"/>
          <p:cNvSpPr txBox="1"/>
          <p:nvPr/>
        </p:nvSpPr>
        <p:spPr>
          <a:xfrm>
            <a:off x="1600200" y="2834640"/>
            <a:ext cx="1554480" cy="457200"/>
          </a:xfrm>
          <a:prstGeom prst="rect">
            <a:avLst/>
          </a:prstGeom>
          <a:noFill/>
          <a:ln/>
        </p:spPr>
        <p:txBody>
          <a:bodyPr wrap="square" lIns="0" tIns="0" rIns="0" bIns="0" rtlCol="0" anchor="ctr"/>
          <a:lstStyle/>
          <a:p>
            <a:pPr algn="ctr" indent="0" marL="0">
              <a:buNone/>
            </a:pPr>
            <a:r>
              <a:rPr lang="en-US" sz="1200" b="1" dirty="0">
                <a:solidFill>
                  <a:schemeClr val="tx2"/>
                </a:solidFill>
              </a:rPr>
              <a:t>Router</a:t>
            </a:r>
            <a:endParaRPr lang="en-US" sz="1200" dirty="0"/>
          </a:p>
          <a:p>
            <a:pPr algn="ctr" indent="0" marL="0">
              <a:buNone/>
            </a:pPr>
            <a:r>
              <a:rPr lang="en-US" sz="1200" dirty="0">
                <a:solidFill>
                  <a:schemeClr val="tx2"/>
                </a:solidFill>
              </a:rPr>
              <a:t>Gemini picks one agent</a:t>
            </a:r>
            <a:endParaRPr lang="en-US" sz="1200" dirty="0"/>
          </a:p>
        </p:txBody>
      </p:sp>
      <p:sp>
        <p:nvSpPr>
          <p:cNvPr id="11" name="Router to Inventory &amp; Demand arrow"/>
          <p:cNvSpPr/>
          <p:nvPr/>
        </p:nvSpPr>
        <p:spPr>
          <a:xfrm flipV="1">
            <a:off x="2834640" y="1691640"/>
            <a:ext cx="822960" cy="731520"/>
          </a:xfrm>
          <a:prstGeom prst="line">
            <a:avLst/>
          </a:prstGeom>
          <a:noFill/>
          <a:ln w="15875">
            <a:solidFill>
              <a:schemeClr val="accent6"/>
            </a:solidFill>
            <a:prstDash val="solid"/>
            <a:tailEnd type="triangle"/>
          </a:ln>
        </p:spPr>
      </p:sp>
      <p:sp>
        <p:nvSpPr>
          <p:cNvPr id="12" name="Inventory &amp; Demand card"/>
          <p:cNvSpPr/>
          <p:nvPr/>
        </p:nvSpPr>
        <p:spPr>
          <a:xfrm>
            <a:off x="3703320" y="1325880"/>
            <a:ext cx="3657600" cy="731520"/>
          </a:xfrm>
          <a:prstGeom prst="roundRect">
            <a:avLst>
              <a:gd name="adj" fmla="val 10000"/>
            </a:avLst>
          </a:prstGeom>
          <a:solidFill>
            <a:schemeClr val="bg2"/>
          </a:solidFill>
          <a:ln w="12700">
            <a:solidFill>
              <a:schemeClr val="bg2"/>
            </a:solidFill>
            <a:prstDash val="solid"/>
          </a:ln>
        </p:spPr>
      </p:sp>
      <p:sp>
        <p:nvSpPr>
          <p:cNvPr id="13" name="Inventory &amp; Demand circle"/>
          <p:cNvSpPr/>
          <p:nvPr/>
        </p:nvSpPr>
        <p:spPr>
          <a:xfrm>
            <a:off x="3794760" y="1417320"/>
            <a:ext cx="548640" cy="548640"/>
          </a:xfrm>
          <a:prstGeom prst="ellipse">
            <a:avLst/>
          </a:prstGeom>
          <a:solidFill>
            <a:schemeClr val="accent1"/>
          </a:solidFill>
          <a:ln w="12700">
            <a:solidFill>
              <a:schemeClr val="accent1"/>
            </a:solidFill>
            <a:prstDash val="solid"/>
          </a:ln>
        </p:spPr>
      </p:sp>
      <p:pic>
        <p:nvPicPr>
          <p:cNvPr id="14" name="Inventory &amp; Demand icon" descr="Inventory &amp; Demand icon">    </p:cNvPr>
          <p:cNvPicPr>
            <a:picLocks noChangeAspect="1"/>
          </p:cNvPicPr>
          <p:nvPr/>
        </p:nvPicPr>
        <p:blipFill>
          <a:blip r:embed="rId3"/>
          <a:stretch>
            <a:fillRect/>
          </a:stretch>
        </p:blipFill>
        <p:spPr>
          <a:xfrm>
            <a:off x="3931920" y="1554480"/>
            <a:ext cx="274320" cy="274320"/>
          </a:xfrm>
          <a:prstGeom prst="rect">
            <a:avLst/>
          </a:prstGeom>
        </p:spPr>
      </p:pic>
      <p:sp>
        <p:nvSpPr>
          <p:cNvPr id="15" name="Text 10"/>
          <p:cNvSpPr txBox="1"/>
          <p:nvPr/>
        </p:nvSpPr>
        <p:spPr>
          <a:xfrm>
            <a:off x="4480560" y="1399032"/>
            <a:ext cx="2834640" cy="594360"/>
          </a:xfrm>
          <a:prstGeom prst="rect">
            <a:avLst/>
          </a:prstGeom>
          <a:noFill/>
          <a:ln/>
        </p:spPr>
        <p:txBody>
          <a:bodyPr wrap="square" lIns="0" tIns="0" rIns="0" bIns="0" rtlCol="0" anchor="ctr"/>
          <a:lstStyle/>
          <a:p>
            <a:pPr indent="0" marL="0">
              <a:buNone/>
            </a:pPr>
            <a:r>
              <a:rPr lang="en-US" sz="1400" b="1" dirty="0">
                <a:solidFill>
                  <a:schemeClr val="tx2"/>
                </a:solidFill>
              </a:rPr>
              <a:t>Inventory &amp; Demand</a:t>
            </a:r>
            <a:endParaRPr lang="en-US" sz="1400" dirty="0"/>
          </a:p>
          <a:p>
            <a:pPr indent="0" marL="0">
              <a:buNone/>
            </a:pPr>
            <a:r>
              <a:rPr lang="en-US" sz="1100" dirty="0">
                <a:solidFill>
                  <a:schemeClr val="accent6"/>
                </a:solidFill>
              </a:rPr>
              <a:t>check_inventory · forecast_stockout</a:t>
            </a:r>
            <a:endParaRPr lang="en-US" sz="1400" dirty="0"/>
          </a:p>
        </p:txBody>
      </p:sp>
      <p:sp>
        <p:nvSpPr>
          <p:cNvPr id="16" name="Router to Logistics arrow"/>
          <p:cNvSpPr/>
          <p:nvPr/>
        </p:nvSpPr>
        <p:spPr>
          <a:xfrm>
            <a:off x="2834640" y="2423160"/>
            <a:ext cx="822960" cy="182880"/>
          </a:xfrm>
          <a:prstGeom prst="line">
            <a:avLst/>
          </a:prstGeom>
          <a:noFill/>
          <a:ln w="15875">
            <a:solidFill>
              <a:schemeClr val="accent6"/>
            </a:solidFill>
            <a:prstDash val="solid"/>
            <a:tailEnd type="triangle"/>
          </a:ln>
        </p:spPr>
      </p:sp>
      <p:sp>
        <p:nvSpPr>
          <p:cNvPr id="17" name="Logistics card"/>
          <p:cNvSpPr/>
          <p:nvPr/>
        </p:nvSpPr>
        <p:spPr>
          <a:xfrm>
            <a:off x="3703320" y="2240280"/>
            <a:ext cx="3657600" cy="731520"/>
          </a:xfrm>
          <a:prstGeom prst="roundRect">
            <a:avLst>
              <a:gd name="adj" fmla="val 10000"/>
            </a:avLst>
          </a:prstGeom>
          <a:solidFill>
            <a:schemeClr val="bg2"/>
          </a:solidFill>
          <a:ln w="12700">
            <a:solidFill>
              <a:schemeClr val="bg2"/>
            </a:solidFill>
            <a:prstDash val="solid"/>
          </a:ln>
        </p:spPr>
      </p:sp>
      <p:sp>
        <p:nvSpPr>
          <p:cNvPr id="18" name="Logistics circle"/>
          <p:cNvSpPr/>
          <p:nvPr/>
        </p:nvSpPr>
        <p:spPr>
          <a:xfrm>
            <a:off x="3794760" y="2331720"/>
            <a:ext cx="548640" cy="548640"/>
          </a:xfrm>
          <a:prstGeom prst="ellipse">
            <a:avLst/>
          </a:prstGeom>
          <a:solidFill>
            <a:schemeClr val="accent2"/>
          </a:solidFill>
          <a:ln w="12700">
            <a:solidFill>
              <a:schemeClr val="accent2"/>
            </a:solidFill>
            <a:prstDash val="solid"/>
          </a:ln>
        </p:spPr>
      </p:sp>
      <p:pic>
        <p:nvPicPr>
          <p:cNvPr id="19" name="Logistics icon" descr="Logistics icon">    </p:cNvPr>
          <p:cNvPicPr>
            <a:picLocks noChangeAspect="1"/>
          </p:cNvPicPr>
          <p:nvPr/>
        </p:nvPicPr>
        <p:blipFill>
          <a:blip r:embed="rId4"/>
          <a:stretch>
            <a:fillRect/>
          </a:stretch>
        </p:blipFill>
        <p:spPr>
          <a:xfrm>
            <a:off x="3931920" y="2468880"/>
            <a:ext cx="274320" cy="274320"/>
          </a:xfrm>
          <a:prstGeom prst="rect">
            <a:avLst/>
          </a:prstGeom>
        </p:spPr>
      </p:pic>
      <p:sp>
        <p:nvSpPr>
          <p:cNvPr id="20" name="Text 14"/>
          <p:cNvSpPr txBox="1"/>
          <p:nvPr/>
        </p:nvSpPr>
        <p:spPr>
          <a:xfrm>
            <a:off x="4480560" y="2313432"/>
            <a:ext cx="2834640" cy="594360"/>
          </a:xfrm>
          <a:prstGeom prst="rect">
            <a:avLst/>
          </a:prstGeom>
          <a:noFill/>
          <a:ln/>
        </p:spPr>
        <p:txBody>
          <a:bodyPr wrap="square" lIns="0" tIns="0" rIns="0" bIns="0" rtlCol="0" anchor="ctr"/>
          <a:lstStyle/>
          <a:p>
            <a:pPr indent="0" marL="0">
              <a:buNone/>
            </a:pPr>
            <a:r>
              <a:rPr lang="en-US" sz="1400" b="1" dirty="0">
                <a:solidFill>
                  <a:schemeClr val="tx2"/>
                </a:solidFill>
              </a:rPr>
              <a:t>Logistics</a:t>
            </a:r>
            <a:endParaRPr lang="en-US" sz="1400" dirty="0"/>
          </a:p>
          <a:p>
            <a:pPr indent="0" marL="0">
              <a:buNone/>
            </a:pPr>
            <a:r>
              <a:rPr lang="en-US" sz="1100" dirty="0">
                <a:solidFill>
                  <a:schemeClr val="accent6"/>
                </a:solidFill>
              </a:rPr>
              <a:t>track_shipment · list_inbound_shipments</a:t>
            </a:r>
            <a:endParaRPr lang="en-US" sz="1400" dirty="0"/>
          </a:p>
        </p:txBody>
      </p:sp>
      <p:sp>
        <p:nvSpPr>
          <p:cNvPr id="21" name="Router to Procurement arrow"/>
          <p:cNvSpPr/>
          <p:nvPr/>
        </p:nvSpPr>
        <p:spPr>
          <a:xfrm>
            <a:off x="2834640" y="2423160"/>
            <a:ext cx="822960" cy="1097280"/>
          </a:xfrm>
          <a:prstGeom prst="line">
            <a:avLst/>
          </a:prstGeom>
          <a:noFill/>
          <a:ln w="15875">
            <a:solidFill>
              <a:schemeClr val="accent6"/>
            </a:solidFill>
            <a:prstDash val="solid"/>
            <a:tailEnd type="triangle"/>
          </a:ln>
        </p:spPr>
      </p:sp>
      <p:sp>
        <p:nvSpPr>
          <p:cNvPr id="22" name="Procurement card"/>
          <p:cNvSpPr/>
          <p:nvPr/>
        </p:nvSpPr>
        <p:spPr>
          <a:xfrm>
            <a:off x="3703320" y="3154680"/>
            <a:ext cx="3657600" cy="731520"/>
          </a:xfrm>
          <a:prstGeom prst="roundRect">
            <a:avLst>
              <a:gd name="adj" fmla="val 10000"/>
            </a:avLst>
          </a:prstGeom>
          <a:solidFill>
            <a:schemeClr val="bg2"/>
          </a:solidFill>
          <a:ln w="12700">
            <a:solidFill>
              <a:schemeClr val="bg2"/>
            </a:solidFill>
            <a:prstDash val="solid"/>
          </a:ln>
        </p:spPr>
      </p:sp>
      <p:sp>
        <p:nvSpPr>
          <p:cNvPr id="23" name="Procurement circle"/>
          <p:cNvSpPr/>
          <p:nvPr/>
        </p:nvSpPr>
        <p:spPr>
          <a:xfrm>
            <a:off x="3794760" y="3246120"/>
            <a:ext cx="548640" cy="548640"/>
          </a:xfrm>
          <a:prstGeom prst="ellipse">
            <a:avLst/>
          </a:prstGeom>
          <a:solidFill>
            <a:schemeClr val="accent3"/>
          </a:solidFill>
          <a:ln w="12700">
            <a:solidFill>
              <a:schemeClr val="accent3"/>
            </a:solidFill>
            <a:prstDash val="solid"/>
          </a:ln>
        </p:spPr>
      </p:sp>
      <p:pic>
        <p:nvPicPr>
          <p:cNvPr id="24" name="Procurement icon" descr="Procurement icon">    </p:cNvPr>
          <p:cNvPicPr>
            <a:picLocks noChangeAspect="1"/>
          </p:cNvPicPr>
          <p:nvPr/>
        </p:nvPicPr>
        <p:blipFill>
          <a:blip r:embed="rId5"/>
          <a:stretch>
            <a:fillRect/>
          </a:stretch>
        </p:blipFill>
        <p:spPr>
          <a:xfrm>
            <a:off x="3931920" y="3383280"/>
            <a:ext cx="274320" cy="274320"/>
          </a:xfrm>
          <a:prstGeom prst="rect">
            <a:avLst/>
          </a:prstGeom>
        </p:spPr>
      </p:pic>
      <p:sp>
        <p:nvSpPr>
          <p:cNvPr id="25" name="Text 18"/>
          <p:cNvSpPr txBox="1"/>
          <p:nvPr/>
        </p:nvSpPr>
        <p:spPr>
          <a:xfrm>
            <a:off x="4480560" y="3227832"/>
            <a:ext cx="2834640" cy="594360"/>
          </a:xfrm>
          <a:prstGeom prst="rect">
            <a:avLst/>
          </a:prstGeom>
          <a:noFill/>
          <a:ln/>
        </p:spPr>
        <p:txBody>
          <a:bodyPr wrap="square" lIns="0" tIns="0" rIns="0" bIns="0" rtlCol="0" anchor="ctr"/>
          <a:lstStyle/>
          <a:p>
            <a:pPr indent="0" marL="0">
              <a:buNone/>
            </a:pPr>
            <a:r>
              <a:rPr lang="en-US" sz="1400" b="1" dirty="0">
                <a:solidFill>
                  <a:schemeClr val="tx2"/>
                </a:solidFill>
              </a:rPr>
              <a:t>Procurement</a:t>
            </a:r>
            <a:endParaRPr lang="en-US" sz="1400" dirty="0"/>
          </a:p>
          <a:p>
            <a:pPr indent="0" marL="0">
              <a:buNone/>
            </a:pPr>
            <a:r>
              <a:rPr lang="en-US" sz="1100" dirty="0">
                <a:solidFill>
                  <a:schemeClr val="accent6"/>
                </a:solidFill>
              </a:rPr>
              <a:t>compare_suppliers · create_purchase_order</a:t>
            </a:r>
            <a:endParaRPr lang="en-US" sz="1400" dirty="0"/>
          </a:p>
        </p:txBody>
      </p:sp>
      <p:sp>
        <p:nvSpPr>
          <p:cNvPr id="26" name="MemorySaver card"/>
          <p:cNvSpPr/>
          <p:nvPr/>
        </p:nvSpPr>
        <p:spPr>
          <a:xfrm>
            <a:off x="7589520" y="1325880"/>
            <a:ext cx="1097280" cy="2560320"/>
          </a:xfrm>
          <a:prstGeom prst="roundRect">
            <a:avLst>
              <a:gd name="adj" fmla="val 6667"/>
            </a:avLst>
          </a:prstGeom>
          <a:solidFill>
            <a:schemeClr val="accent4"/>
          </a:solidFill>
          <a:ln w="12700">
            <a:solidFill>
              <a:schemeClr val="accent4"/>
            </a:solidFill>
            <a:prstDash val="solid"/>
          </a:ln>
        </p:spPr>
      </p:sp>
      <p:sp>
        <p:nvSpPr>
          <p:cNvPr id="27" name="MemorySaver circle"/>
          <p:cNvSpPr/>
          <p:nvPr/>
        </p:nvSpPr>
        <p:spPr>
          <a:xfrm>
            <a:off x="7818120" y="1554480"/>
            <a:ext cx="640080" cy="640080"/>
          </a:xfrm>
          <a:prstGeom prst="ellipse">
            <a:avLst/>
          </a:prstGeom>
          <a:solidFill>
            <a:schemeClr val="tx2"/>
          </a:solidFill>
          <a:ln w="12700">
            <a:solidFill>
              <a:schemeClr val="tx2"/>
            </a:solidFill>
            <a:prstDash val="solid"/>
          </a:ln>
        </p:spPr>
      </p:sp>
      <p:pic>
        <p:nvPicPr>
          <p:cNvPr id="28" name="MemorySaver icon" descr="MemorySaver icon">    </p:cNvPr>
          <p:cNvPicPr>
            <a:picLocks noChangeAspect="1"/>
          </p:cNvPicPr>
          <p:nvPr/>
        </p:nvPicPr>
        <p:blipFill>
          <a:blip r:embed="rId6"/>
          <a:stretch>
            <a:fillRect/>
          </a:stretch>
        </p:blipFill>
        <p:spPr>
          <a:xfrm>
            <a:off x="7978140" y="1714500"/>
            <a:ext cx="320040" cy="320040"/>
          </a:xfrm>
          <a:prstGeom prst="rect">
            <a:avLst/>
          </a:prstGeom>
        </p:spPr>
      </p:pic>
      <p:sp>
        <p:nvSpPr>
          <p:cNvPr id="29" name="Text 21"/>
          <p:cNvSpPr txBox="1"/>
          <p:nvPr/>
        </p:nvSpPr>
        <p:spPr>
          <a:xfrm>
            <a:off x="7635240" y="2331720"/>
            <a:ext cx="1005840" cy="1371600"/>
          </a:xfrm>
          <a:prstGeom prst="rect">
            <a:avLst/>
          </a:prstGeom>
          <a:noFill/>
          <a:ln/>
        </p:spPr>
        <p:txBody>
          <a:bodyPr wrap="square" lIns="0" tIns="0" rIns="0" bIns="0" rtlCol="0" anchor="t"/>
          <a:lstStyle/>
          <a:p>
            <a:pPr algn="ctr" indent="0" marL="0">
              <a:buNone/>
            </a:pPr>
            <a:r>
              <a:rPr lang="en-US" sz="1200" b="1" dirty="0">
                <a:solidFill>
                  <a:schemeClr val="bg1"/>
                </a:solidFill>
              </a:rPr>
              <a:t>MemorySaver</a:t>
            </a:r>
            <a:endParaRPr lang="en-US" sz="1200" dirty="0"/>
          </a:p>
          <a:p>
            <a:pPr algn="ctr" indent="0" marL="0">
              <a:buNone/>
            </a:pPr>
            <a:r>
              <a:rPr lang="en-US" sz="1100" dirty="0">
                <a:solidFill>
                  <a:schemeClr val="bg1"/>
                </a:solidFill>
              </a:rPr>
              <a:t>one saved file per thread ID</a:t>
            </a:r>
            <a:endParaRPr lang="en-US" sz="1200" dirty="0"/>
          </a:p>
        </p:txBody>
      </p:sp>
      <p:sp>
        <p:nvSpPr>
          <p:cNvPr id="30" name="Text 22"/>
          <p:cNvSpPr txBox="1"/>
          <p:nvPr/>
        </p:nvSpPr>
        <p:spPr>
          <a:xfrm>
            <a:off x="457200" y="4160520"/>
            <a:ext cx="6949440" cy="320040"/>
          </a:xfrm>
          <a:prstGeom prst="rect">
            <a:avLst/>
          </a:prstGeom>
          <a:noFill/>
          <a:ln/>
        </p:spPr>
        <p:txBody>
          <a:bodyPr wrap="square" lIns="0" tIns="0" rIns="0" bIns="0" rtlCol="0" anchor="ctr"/>
          <a:lstStyle/>
          <a:p>
            <a:pPr indent="0" marL="0">
              <a:buNone/>
            </a:pPr>
            <a:r>
              <a:rPr lang="en-US" sz="1200" i="1" dirty="0">
                <a:solidFill>
                  <a:schemeClr val="accent6"/>
                </a:solidFill>
              </a:rPr>
              <a:t>Greetings and recaps exit early through a General agent with no tools.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ZERO GUESSWORK</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2800" b="1" dirty="0">
                <a:solidFill>
                  <a:schemeClr val="tx2"/>
                </a:solidFill>
              </a:rPr>
              <a:t>Each agent answers only from its own tools</a:t>
            </a:r>
            <a:endParaRPr lang="en-US" sz="2800" dirty="0"/>
          </a:p>
        </p:txBody>
      </p:sp>
      <p:sp>
        <p:nvSpPr>
          <p:cNvPr id="4" name="Inventory &amp; Demand card"/>
          <p:cNvSpPr/>
          <p:nvPr/>
        </p:nvSpPr>
        <p:spPr>
          <a:xfrm>
            <a:off x="457200" y="1371600"/>
            <a:ext cx="2615184" cy="3154680"/>
          </a:xfrm>
          <a:prstGeom prst="roundRect">
            <a:avLst>
              <a:gd name="adj" fmla="val 2797"/>
            </a:avLst>
          </a:prstGeom>
          <a:solidFill>
            <a:schemeClr val="bg2"/>
          </a:solidFill>
          <a:ln w="12700">
            <a:solidFill>
              <a:schemeClr val="bg2"/>
            </a:solidFill>
            <a:prstDash val="solid"/>
          </a:ln>
        </p:spPr>
      </p:sp>
      <p:sp>
        <p:nvSpPr>
          <p:cNvPr id="5" name="Inventory &amp; Demand circle"/>
          <p:cNvSpPr/>
          <p:nvPr/>
        </p:nvSpPr>
        <p:spPr>
          <a:xfrm>
            <a:off x="685800" y="1554480"/>
            <a:ext cx="640080" cy="640080"/>
          </a:xfrm>
          <a:prstGeom prst="ellipse">
            <a:avLst/>
          </a:prstGeom>
          <a:solidFill>
            <a:schemeClr val="accent1"/>
          </a:solidFill>
          <a:ln w="12700">
            <a:solidFill>
              <a:schemeClr val="accent1"/>
            </a:solidFill>
            <a:prstDash val="solid"/>
          </a:ln>
        </p:spPr>
      </p:sp>
      <p:pic>
        <p:nvPicPr>
          <p:cNvPr id="6" name="Inventory &amp; Demand icon" descr="Inventory &amp; Demand icon">    </p:cNvPr>
          <p:cNvPicPr>
            <a:picLocks noChangeAspect="1"/>
          </p:cNvPicPr>
          <p:nvPr/>
        </p:nvPicPr>
        <p:blipFill>
          <a:blip r:embed="rId1"/>
          <a:stretch>
            <a:fillRect/>
          </a:stretch>
        </p:blipFill>
        <p:spPr>
          <a:xfrm>
            <a:off x="845820" y="1714500"/>
            <a:ext cx="320040" cy="320040"/>
          </a:xfrm>
          <a:prstGeom prst="rect">
            <a:avLst/>
          </a:prstGeom>
        </p:spPr>
      </p:pic>
      <p:sp>
        <p:nvSpPr>
          <p:cNvPr id="7" name="Text 4"/>
          <p:cNvSpPr txBox="1"/>
          <p:nvPr/>
        </p:nvSpPr>
        <p:spPr>
          <a:xfrm>
            <a:off x="685800" y="2286000"/>
            <a:ext cx="2194560" cy="365760"/>
          </a:xfrm>
          <a:prstGeom prst="rect">
            <a:avLst/>
          </a:prstGeom>
          <a:noFill/>
          <a:ln/>
        </p:spPr>
        <p:txBody>
          <a:bodyPr wrap="square" lIns="0" tIns="0" rIns="0" bIns="0" rtlCol="0" anchor="ctr"/>
          <a:lstStyle/>
          <a:p>
            <a:pPr indent="0" marL="0">
              <a:buNone/>
            </a:pPr>
            <a:r>
              <a:rPr lang="en-US" sz="1600" b="1" dirty="0">
                <a:solidFill>
                  <a:schemeClr val="tx2"/>
                </a:solidFill>
              </a:rPr>
              <a:t>Inventory &amp; Demand</a:t>
            </a:r>
            <a:endParaRPr lang="en-US" sz="1600" dirty="0"/>
          </a:p>
        </p:txBody>
      </p:sp>
      <p:sp>
        <p:nvSpPr>
          <p:cNvPr id="8" name="Text 5"/>
          <p:cNvSpPr txBox="1"/>
          <p:nvPr/>
        </p:nvSpPr>
        <p:spPr>
          <a:xfrm>
            <a:off x="685800" y="2697480"/>
            <a:ext cx="2240280" cy="13258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Stock, days of cover, reorder point</a:t>
            </a:r>
            <a:endParaRPr lang="en-US" sz="1300" dirty="0"/>
          </a:p>
          <a:p>
            <a:pPr marL="177800" indent="-177800">
              <a:spcAft>
                <a:spcPts val="400"/>
              </a:spcAft>
              <a:buSzPct val="100000"/>
              <a:buChar char="•"/>
            </a:pPr>
            <a:r>
              <a:rPr lang="en-US" sz="1300" dirty="0">
                <a:solidFill>
                  <a:schemeClr val="tx1"/>
                </a:solidFill>
              </a:rPr>
              <a:t>Stockout forecast with inbound POs</a:t>
            </a:r>
            <a:endParaRPr lang="en-US" sz="1300" dirty="0"/>
          </a:p>
          <a:p>
            <a:pPr marL="177800" indent="-177800">
              <a:spcAft>
                <a:spcPts val="400"/>
              </a:spcAft>
              <a:buSzPct val="100000"/>
              <a:buChar char="•"/>
            </a:pPr>
            <a:r>
              <a:rPr lang="en-US" sz="1300" dirty="0">
                <a:solidFill>
                  <a:schemeClr val="tx1"/>
                </a:solidFill>
              </a:rPr>
              <a:t>+35% holiday demand built in</a:t>
            </a:r>
            <a:endParaRPr lang="en-US" sz="1300" dirty="0"/>
          </a:p>
        </p:txBody>
      </p:sp>
      <p:sp>
        <p:nvSpPr>
          <p:cNvPr id="9" name="Text 6"/>
          <p:cNvSpPr txBox="1"/>
          <p:nvPr/>
        </p:nvSpPr>
        <p:spPr>
          <a:xfrm>
            <a:off x="685800" y="4069080"/>
            <a:ext cx="2240280" cy="320040"/>
          </a:xfrm>
          <a:prstGeom prst="rect">
            <a:avLst/>
          </a:prstGeom>
          <a:noFill/>
          <a:ln/>
        </p:spPr>
        <p:txBody>
          <a:bodyPr wrap="square" lIns="0" tIns="0" rIns="0" bIns="0" rtlCol="0" anchor="ctr"/>
          <a:lstStyle/>
          <a:p>
            <a:pPr indent="0" marL="0">
              <a:buNone/>
            </a:pPr>
            <a:r>
              <a:rPr lang="en-US" sz="1100" i="1" dirty="0">
                <a:solidFill>
                  <a:schemeClr val="accent6"/>
                </a:solidFill>
              </a:rPr>
              <a:t>Data: inventory levels and usage rates</a:t>
            </a:r>
            <a:endParaRPr lang="en-US" sz="1100" dirty="0"/>
          </a:p>
        </p:txBody>
      </p:sp>
      <p:sp>
        <p:nvSpPr>
          <p:cNvPr id="10" name="Logistics card"/>
          <p:cNvSpPr/>
          <p:nvPr/>
        </p:nvSpPr>
        <p:spPr>
          <a:xfrm>
            <a:off x="3264408" y="1371600"/>
            <a:ext cx="2615184" cy="3154680"/>
          </a:xfrm>
          <a:prstGeom prst="roundRect">
            <a:avLst>
              <a:gd name="adj" fmla="val 2797"/>
            </a:avLst>
          </a:prstGeom>
          <a:solidFill>
            <a:schemeClr val="bg2"/>
          </a:solidFill>
          <a:ln w="12700">
            <a:solidFill>
              <a:schemeClr val="bg2"/>
            </a:solidFill>
            <a:prstDash val="solid"/>
          </a:ln>
        </p:spPr>
      </p:sp>
      <p:sp>
        <p:nvSpPr>
          <p:cNvPr id="11" name="Logistics circle"/>
          <p:cNvSpPr/>
          <p:nvPr/>
        </p:nvSpPr>
        <p:spPr>
          <a:xfrm>
            <a:off x="3493008" y="1554480"/>
            <a:ext cx="640080" cy="640080"/>
          </a:xfrm>
          <a:prstGeom prst="ellipse">
            <a:avLst/>
          </a:prstGeom>
          <a:solidFill>
            <a:schemeClr val="accent2"/>
          </a:solidFill>
          <a:ln w="12700">
            <a:solidFill>
              <a:schemeClr val="accent2"/>
            </a:solidFill>
            <a:prstDash val="solid"/>
          </a:ln>
        </p:spPr>
      </p:sp>
      <p:pic>
        <p:nvPicPr>
          <p:cNvPr id="12" name="Logistics icon" descr="Logistics icon">    </p:cNvPr>
          <p:cNvPicPr>
            <a:picLocks noChangeAspect="1"/>
          </p:cNvPicPr>
          <p:nvPr/>
        </p:nvPicPr>
        <p:blipFill>
          <a:blip r:embed="rId2"/>
          <a:stretch>
            <a:fillRect/>
          </a:stretch>
        </p:blipFill>
        <p:spPr>
          <a:xfrm>
            <a:off x="3653028" y="1714500"/>
            <a:ext cx="320040" cy="320040"/>
          </a:xfrm>
          <a:prstGeom prst="rect">
            <a:avLst/>
          </a:prstGeom>
        </p:spPr>
      </p:pic>
      <p:sp>
        <p:nvSpPr>
          <p:cNvPr id="13" name="Text 9"/>
          <p:cNvSpPr txBox="1"/>
          <p:nvPr/>
        </p:nvSpPr>
        <p:spPr>
          <a:xfrm>
            <a:off x="3493008" y="2286000"/>
            <a:ext cx="2194560" cy="365760"/>
          </a:xfrm>
          <a:prstGeom prst="rect">
            <a:avLst/>
          </a:prstGeom>
          <a:noFill/>
          <a:ln/>
        </p:spPr>
        <p:txBody>
          <a:bodyPr wrap="square" lIns="0" tIns="0" rIns="0" bIns="0" rtlCol="0" anchor="ctr"/>
          <a:lstStyle/>
          <a:p>
            <a:pPr indent="0" marL="0">
              <a:buNone/>
            </a:pPr>
            <a:r>
              <a:rPr lang="en-US" sz="1600" b="1" dirty="0">
                <a:solidFill>
                  <a:schemeClr val="tx2"/>
                </a:solidFill>
              </a:rPr>
              <a:t>Logistics</a:t>
            </a:r>
            <a:endParaRPr lang="en-US" sz="1600" dirty="0"/>
          </a:p>
        </p:txBody>
      </p:sp>
      <p:sp>
        <p:nvSpPr>
          <p:cNvPr id="14" name="Text 10"/>
          <p:cNvSpPr txBox="1"/>
          <p:nvPr/>
        </p:nvSpPr>
        <p:spPr>
          <a:xfrm>
            <a:off x="3493008" y="2697480"/>
            <a:ext cx="2240280" cy="13258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Track any purchase order</a:t>
            </a:r>
            <a:endParaRPr lang="en-US" sz="1300" dirty="0"/>
          </a:p>
          <a:p>
            <a:pPr marL="177800" indent="-177800">
              <a:spcAft>
                <a:spcPts val="400"/>
              </a:spcAft>
              <a:buSzPct val="100000"/>
              <a:buChar char="•"/>
            </a:pPr>
            <a:r>
              <a:rPr lang="en-US" sz="1300" dirty="0">
                <a:solidFill>
                  <a:schemeClr val="tx1"/>
                </a:solidFill>
              </a:rPr>
              <a:t>Promised vs current ETA, days late</a:t>
            </a:r>
            <a:endParaRPr lang="en-US" sz="1300" dirty="0"/>
          </a:p>
          <a:p>
            <a:pPr marL="177800" indent="-177800">
              <a:spcAft>
                <a:spcPts val="400"/>
              </a:spcAft>
              <a:buSzPct val="100000"/>
              <a:buChar char="•"/>
            </a:pPr>
            <a:r>
              <a:rPr lang="en-US" sz="1300" dirty="0">
                <a:solidFill>
                  <a:schemeClr val="tx1"/>
                </a:solidFill>
              </a:rPr>
              <a:t>Delay reason and what's inbound</a:t>
            </a:r>
            <a:endParaRPr lang="en-US" sz="1300" dirty="0"/>
          </a:p>
        </p:txBody>
      </p:sp>
      <p:sp>
        <p:nvSpPr>
          <p:cNvPr id="15" name="Text 11"/>
          <p:cNvSpPr txBox="1"/>
          <p:nvPr/>
        </p:nvSpPr>
        <p:spPr>
          <a:xfrm>
            <a:off x="3493008" y="4069080"/>
            <a:ext cx="2240280" cy="320040"/>
          </a:xfrm>
          <a:prstGeom prst="rect">
            <a:avLst/>
          </a:prstGeom>
          <a:noFill/>
          <a:ln/>
        </p:spPr>
        <p:txBody>
          <a:bodyPr wrap="square" lIns="0" tIns="0" rIns="0" bIns="0" rtlCol="0" anchor="ctr"/>
          <a:lstStyle/>
          <a:p>
            <a:pPr indent="0" marL="0">
              <a:buNone/>
            </a:pPr>
            <a:r>
              <a:rPr lang="en-US" sz="1100" i="1" dirty="0">
                <a:solidFill>
                  <a:schemeClr val="accent6"/>
                </a:solidFill>
              </a:rPr>
              <a:t>Data: inbound shipment records</a:t>
            </a:r>
            <a:endParaRPr lang="en-US" sz="1100" dirty="0"/>
          </a:p>
        </p:txBody>
      </p:sp>
      <p:sp>
        <p:nvSpPr>
          <p:cNvPr id="16" name="Procurement card"/>
          <p:cNvSpPr/>
          <p:nvPr/>
        </p:nvSpPr>
        <p:spPr>
          <a:xfrm>
            <a:off x="6071616" y="1371600"/>
            <a:ext cx="2615184" cy="3154680"/>
          </a:xfrm>
          <a:prstGeom prst="roundRect">
            <a:avLst>
              <a:gd name="adj" fmla="val 2797"/>
            </a:avLst>
          </a:prstGeom>
          <a:solidFill>
            <a:schemeClr val="bg2"/>
          </a:solidFill>
          <a:ln w="12700">
            <a:solidFill>
              <a:schemeClr val="bg2"/>
            </a:solidFill>
            <a:prstDash val="solid"/>
          </a:ln>
        </p:spPr>
      </p:sp>
      <p:sp>
        <p:nvSpPr>
          <p:cNvPr id="17" name="Procurement circle"/>
          <p:cNvSpPr/>
          <p:nvPr/>
        </p:nvSpPr>
        <p:spPr>
          <a:xfrm>
            <a:off x="6300216" y="1554480"/>
            <a:ext cx="640080" cy="640080"/>
          </a:xfrm>
          <a:prstGeom prst="ellipse">
            <a:avLst/>
          </a:prstGeom>
          <a:solidFill>
            <a:schemeClr val="accent3"/>
          </a:solidFill>
          <a:ln w="12700">
            <a:solidFill>
              <a:schemeClr val="accent3"/>
            </a:solidFill>
            <a:prstDash val="solid"/>
          </a:ln>
        </p:spPr>
      </p:sp>
      <p:pic>
        <p:nvPicPr>
          <p:cNvPr id="18" name="Procurement icon" descr="Procurement icon">    </p:cNvPr>
          <p:cNvPicPr>
            <a:picLocks noChangeAspect="1"/>
          </p:cNvPicPr>
          <p:nvPr/>
        </p:nvPicPr>
        <p:blipFill>
          <a:blip r:embed="rId3"/>
          <a:stretch>
            <a:fillRect/>
          </a:stretch>
        </p:blipFill>
        <p:spPr>
          <a:xfrm>
            <a:off x="6460236" y="1714500"/>
            <a:ext cx="320040" cy="320040"/>
          </a:xfrm>
          <a:prstGeom prst="rect">
            <a:avLst/>
          </a:prstGeom>
        </p:spPr>
      </p:pic>
      <p:sp>
        <p:nvSpPr>
          <p:cNvPr id="19" name="Text 14"/>
          <p:cNvSpPr txBox="1"/>
          <p:nvPr/>
        </p:nvSpPr>
        <p:spPr>
          <a:xfrm>
            <a:off x="6300216" y="2286000"/>
            <a:ext cx="2194560" cy="365760"/>
          </a:xfrm>
          <a:prstGeom prst="rect">
            <a:avLst/>
          </a:prstGeom>
          <a:noFill/>
          <a:ln/>
        </p:spPr>
        <p:txBody>
          <a:bodyPr wrap="square" lIns="0" tIns="0" rIns="0" bIns="0" rtlCol="0" anchor="ctr"/>
          <a:lstStyle/>
          <a:p>
            <a:pPr indent="0" marL="0">
              <a:buNone/>
            </a:pPr>
            <a:r>
              <a:rPr lang="en-US" sz="1600" b="1" dirty="0">
                <a:solidFill>
                  <a:schemeClr val="tx2"/>
                </a:solidFill>
              </a:rPr>
              <a:t>Procurement</a:t>
            </a:r>
            <a:endParaRPr lang="en-US" sz="1600" dirty="0"/>
          </a:p>
        </p:txBody>
      </p:sp>
      <p:sp>
        <p:nvSpPr>
          <p:cNvPr id="20" name="Text 15"/>
          <p:cNvSpPr txBox="1"/>
          <p:nvPr/>
        </p:nvSpPr>
        <p:spPr>
          <a:xfrm>
            <a:off x="6300216" y="2697480"/>
            <a:ext cx="2240280" cy="13258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Compare price, lead time, on-time rate</a:t>
            </a:r>
            <a:endParaRPr lang="en-US" sz="1300" dirty="0"/>
          </a:p>
          <a:p>
            <a:pPr marL="177800" indent="-177800">
              <a:spcAft>
                <a:spcPts val="400"/>
              </a:spcAft>
              <a:buSzPct val="100000"/>
              <a:buChar char="•"/>
            </a:pPr>
            <a:r>
              <a:rPr lang="en-US" sz="1300" dirty="0">
                <a:solidFill>
                  <a:schemeClr val="tx1"/>
                </a:solidFill>
              </a:rPr>
              <a:t>Checks minimum order and arrives-in-time</a:t>
            </a:r>
            <a:endParaRPr lang="en-US" sz="1300" dirty="0"/>
          </a:p>
          <a:p>
            <a:pPr marL="177800" indent="-177800">
              <a:spcAft>
                <a:spcPts val="400"/>
              </a:spcAft>
              <a:buSzPct val="100000"/>
              <a:buChar char="•"/>
            </a:pPr>
            <a:r>
              <a:rPr lang="en-US" sz="1300" dirty="0">
                <a:solidFill>
                  <a:schemeClr val="tx1"/>
                </a:solidFill>
              </a:rPr>
              <a:t>Places a PO only after approval</a:t>
            </a:r>
            <a:endParaRPr lang="en-US" sz="1300" dirty="0"/>
          </a:p>
        </p:txBody>
      </p:sp>
      <p:sp>
        <p:nvSpPr>
          <p:cNvPr id="21" name="Text 16"/>
          <p:cNvSpPr txBox="1"/>
          <p:nvPr/>
        </p:nvSpPr>
        <p:spPr>
          <a:xfrm>
            <a:off x="6300216" y="4069080"/>
            <a:ext cx="2240280" cy="320040"/>
          </a:xfrm>
          <a:prstGeom prst="rect">
            <a:avLst/>
          </a:prstGeom>
          <a:noFill/>
          <a:ln/>
        </p:spPr>
        <p:txBody>
          <a:bodyPr wrap="square" lIns="0" tIns="0" rIns="0" bIns="0" rtlCol="0" anchor="ctr"/>
          <a:lstStyle/>
          <a:p>
            <a:pPr indent="0" marL="0">
              <a:buNone/>
            </a:pPr>
            <a:r>
              <a:rPr lang="en-US" sz="1100" i="1" dirty="0">
                <a:solidFill>
                  <a:schemeClr val="accent6"/>
                </a:solidFill>
              </a:rPr>
              <a:t>Data: approved supplier quotes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THE SCENARIO</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2800" b="1" dirty="0">
                <a:solidFill>
                  <a:schemeClr val="tx2"/>
                </a:solidFill>
              </a:rPr>
              <a:t>A late ship meant a stockout; one PO fixed it</a:t>
            </a:r>
            <a:endParaRPr lang="en-US" sz="2800" dirty="0"/>
          </a:p>
        </p:txBody>
      </p:sp>
      <p:graphicFrame>
        <p:nvGraphicFramePr>
          <p:cNvPr id="4" name="Brazil stock projection chart" descr=""/>
          <p:cNvGraphicFramePr/>
          <p:nvPr/>
        </p:nvGraphicFramePr>
        <p:xfrm>
          <a:off x="365760" y="128016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035040" y="1325880"/>
            <a:ext cx="2743200" cy="5486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8.6</a:t>
            </a:r>
            <a:endParaRPr lang="en-US" sz="3200" dirty="0"/>
          </a:p>
        </p:txBody>
      </p:sp>
      <p:sp>
        <p:nvSpPr>
          <p:cNvPr id="6" name="Text 3"/>
          <p:cNvSpPr txBox="1"/>
          <p:nvPr/>
        </p:nvSpPr>
        <p:spPr>
          <a:xfrm>
            <a:off x="6035040" y="1874520"/>
            <a:ext cx="2743200" cy="411480"/>
          </a:xfrm>
          <a:prstGeom prst="rect">
            <a:avLst/>
          </a:prstGeom>
          <a:noFill/>
          <a:ln/>
        </p:spPr>
        <p:txBody>
          <a:bodyPr wrap="square" lIns="0" tIns="0" rIns="0" bIns="0" rtlCol="0" anchor="t"/>
          <a:lstStyle/>
          <a:p>
            <a:pPr indent="0" marL="0">
              <a:buNone/>
            </a:pPr>
            <a:r>
              <a:rPr lang="en-US" sz="1200" dirty="0">
                <a:solidFill>
                  <a:schemeClr val="tx1"/>
                </a:solidFill>
              </a:rPr>
              <a:t>days of cover left on Oct 26</a:t>
            </a:r>
            <a:endParaRPr lang="en-US" sz="1200" dirty="0"/>
          </a:p>
        </p:txBody>
      </p:sp>
      <p:sp>
        <p:nvSpPr>
          <p:cNvPr id="7" name="Text 4"/>
          <p:cNvSpPr txBox="1"/>
          <p:nvPr/>
        </p:nvSpPr>
        <p:spPr>
          <a:xfrm>
            <a:off x="6035040" y="2423160"/>
            <a:ext cx="2743200" cy="54864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7 days</a:t>
            </a:r>
            <a:endParaRPr lang="en-US" sz="3200" dirty="0"/>
          </a:p>
        </p:txBody>
      </p:sp>
      <p:sp>
        <p:nvSpPr>
          <p:cNvPr id="8" name="Text 5"/>
          <p:cNvSpPr txBox="1"/>
          <p:nvPr/>
        </p:nvSpPr>
        <p:spPr>
          <a:xfrm>
            <a:off x="6035040" y="2971800"/>
            <a:ext cx="2743200" cy="411480"/>
          </a:xfrm>
          <a:prstGeom prst="rect">
            <a:avLst/>
          </a:prstGeom>
          <a:noFill/>
          <a:ln/>
        </p:spPr>
        <p:txBody>
          <a:bodyPr wrap="square" lIns="0" tIns="0" rIns="0" bIns="0" rtlCol="0" anchor="t"/>
          <a:lstStyle/>
          <a:p>
            <a:pPr indent="0" marL="0">
              <a:buNone/>
            </a:pPr>
            <a:r>
              <a:rPr lang="en-US" sz="1200" dirty="0">
                <a:solidFill>
                  <a:schemeClr val="tx1"/>
                </a:solidFill>
              </a:rPr>
              <a:t>late: PO-2211, Santos port congestion</a:t>
            </a:r>
            <a:endParaRPr lang="en-US" sz="1200" dirty="0"/>
          </a:p>
        </p:txBody>
      </p:sp>
      <p:sp>
        <p:nvSpPr>
          <p:cNvPr id="9" name="Text 6"/>
          <p:cNvSpPr txBox="1"/>
          <p:nvPr/>
        </p:nvSpPr>
        <p:spPr>
          <a:xfrm>
            <a:off x="6035040" y="3520440"/>
            <a:ext cx="274320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$2,050</a:t>
            </a:r>
            <a:endParaRPr lang="en-US" sz="3200" dirty="0"/>
          </a:p>
        </p:txBody>
      </p:sp>
      <p:sp>
        <p:nvSpPr>
          <p:cNvPr id="10" name="Text 7"/>
          <p:cNvSpPr txBox="1"/>
          <p:nvPr/>
        </p:nvSpPr>
        <p:spPr>
          <a:xfrm>
            <a:off x="6035040" y="4069080"/>
            <a:ext cx="2743200" cy="411480"/>
          </a:xfrm>
          <a:prstGeom prst="rect">
            <a:avLst/>
          </a:prstGeom>
          <a:noFill/>
          <a:ln/>
        </p:spPr>
        <p:txBody>
          <a:bodyPr wrap="square" lIns="0" tIns="0" rIns="0" bIns="0" rtlCol="0" anchor="t"/>
          <a:lstStyle/>
          <a:p>
            <a:pPr indent="0" marL="0">
              <a:buNone/>
            </a:pPr>
            <a:r>
              <a:rPr lang="en-US" sz="1200" dirty="0">
                <a:solidFill>
                  <a:schemeClr val="tx1"/>
                </a:solidFill>
              </a:rPr>
              <a:t>PO-2231: 500 lb, arrives Oct 29</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MEMORY</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2800" b="1" dirty="0">
                <a:solidFill>
                  <a:schemeClr val="tx2"/>
                </a:solidFill>
              </a:rPr>
              <a:t>Memory is a case file with a ticket number</a:t>
            </a:r>
            <a:endParaRPr lang="en-US" sz="2800" dirty="0"/>
          </a:p>
        </p:txBody>
      </p:sp>
      <p:sp>
        <p:nvSpPr>
          <p:cNvPr id="4" name="MemorySaver circle"/>
          <p:cNvSpPr/>
          <p:nvPr/>
        </p:nvSpPr>
        <p:spPr>
          <a:xfrm>
            <a:off x="457200" y="1417320"/>
            <a:ext cx="731520" cy="731520"/>
          </a:xfrm>
          <a:prstGeom prst="ellipse">
            <a:avLst/>
          </a:prstGeom>
          <a:solidFill>
            <a:schemeClr val="accent4"/>
          </a:solidFill>
          <a:ln w="12700">
            <a:solidFill>
              <a:schemeClr val="accent4"/>
            </a:solidFill>
            <a:prstDash val="solid"/>
          </a:ln>
        </p:spPr>
      </p:sp>
      <p:pic>
        <p:nvPicPr>
          <p:cNvPr id="5" name="MemorySaver icon" descr="MemorySaver icon">    </p:cNvPr>
          <p:cNvPicPr>
            <a:picLocks noChangeAspect="1"/>
          </p:cNvPicPr>
          <p:nvPr/>
        </p:nvPicPr>
        <p:blipFill>
          <a:blip r:embed="rId1"/>
          <a:stretch>
            <a:fillRect/>
          </a:stretch>
        </p:blipFill>
        <p:spPr>
          <a:xfrm>
            <a:off x="640080" y="1600200"/>
            <a:ext cx="365760" cy="365760"/>
          </a:xfrm>
          <a:prstGeom prst="rect">
            <a:avLst/>
          </a:prstGeom>
        </p:spPr>
      </p:pic>
      <p:sp>
        <p:nvSpPr>
          <p:cNvPr id="6" name="Text 3"/>
          <p:cNvSpPr txBox="1"/>
          <p:nvPr/>
        </p:nvSpPr>
        <p:spPr>
          <a:xfrm>
            <a:off x="1371600" y="1371600"/>
            <a:ext cx="3108960" cy="914400"/>
          </a:xfrm>
          <a:prstGeom prst="rect">
            <a:avLst/>
          </a:prstGeom>
          <a:noFill/>
          <a:ln/>
        </p:spPr>
        <p:txBody>
          <a:bodyPr wrap="square" lIns="0" tIns="0" rIns="0" bIns="0" rtlCol="0" anchor="t"/>
          <a:lstStyle/>
          <a:p>
            <a:pPr indent="0" marL="0">
              <a:buNone/>
            </a:pPr>
            <a:r>
              <a:rPr lang="en-US" sz="1400" b="1" dirty="0">
                <a:solidFill>
                  <a:schemeClr val="tx1"/>
                </a:solidFill>
              </a:rPr>
              <a:t>MemorySaver is the filing cabinet.</a:t>
            </a:r>
            <a:endParaRPr lang="en-US" sz="1400" dirty="0"/>
          </a:p>
          <a:p>
            <a:pPr indent="0" marL="0">
              <a:buNone/>
            </a:pPr>
            <a:r>
              <a:rPr lang="en-US" sz="1400" dirty="0">
                <a:solidFill>
                  <a:schemeClr val="tx1"/>
                </a:solidFill>
              </a:rPr>
              <a:t>Each turn the agent pulls the file, reads the history, answers, and files the new messages.</a:t>
            </a:r>
            <a:endParaRPr lang="en-US" sz="1400" dirty="0"/>
          </a:p>
        </p:txBody>
      </p:sp>
      <p:sp>
        <p:nvSpPr>
          <p:cNvPr id="7" name="Text 4"/>
          <p:cNvSpPr txBox="1"/>
          <p:nvPr/>
        </p:nvSpPr>
        <p:spPr>
          <a:xfrm>
            <a:off x="1371600" y="2514600"/>
            <a:ext cx="3108960" cy="914400"/>
          </a:xfrm>
          <a:prstGeom prst="rect">
            <a:avLst/>
          </a:prstGeom>
          <a:noFill/>
          <a:ln/>
        </p:spPr>
        <p:txBody>
          <a:bodyPr wrap="square" lIns="0" tIns="0" rIns="0" bIns="0" rtlCol="0" anchor="t"/>
          <a:lstStyle/>
          <a:p>
            <a:pPr indent="0" marL="0">
              <a:buNone/>
            </a:pPr>
            <a:r>
              <a:rPr lang="en-US" sz="1400" b="1" dirty="0">
                <a:solidFill>
                  <a:schemeClr val="tx1"/>
                </a:solidFill>
              </a:rPr>
              <a:t>Ticket number = thread_id.</a:t>
            </a:r>
            <a:endParaRPr lang="en-US" sz="1400" dirty="0"/>
          </a:p>
          <a:p>
            <a:pPr indent="0" marL="0">
              <a:buNone/>
            </a:pPr>
            <a:r>
              <a:rPr lang="en-US" sz="1400" dirty="0">
                <a:solidFill>
                  <a:schemeClr val="tx1"/>
                </a:solidFill>
              </a:rPr>
              <a:t>Same ID, same memory. A new shift gets a new ID and starts with a clean file.</a:t>
            </a:r>
            <a:endParaRPr lang="en-US" sz="1400" dirty="0"/>
          </a:p>
        </p:txBody>
      </p:sp>
      <p:sp>
        <p:nvSpPr>
          <p:cNvPr id="8" name="thread_id = ops-morning card"/>
          <p:cNvSpPr/>
          <p:nvPr/>
        </p:nvSpPr>
        <p:spPr>
          <a:xfrm>
            <a:off x="4846320" y="1371600"/>
            <a:ext cx="3840480" cy="1234440"/>
          </a:xfrm>
          <a:prstGeom prst="roundRect">
            <a:avLst>
              <a:gd name="adj" fmla="val 5926"/>
            </a:avLst>
          </a:prstGeom>
          <a:solidFill>
            <a:schemeClr val="bg2"/>
          </a:solidFill>
          <a:ln w="12700">
            <a:solidFill>
              <a:schemeClr val="bg2"/>
            </a:solidFill>
            <a:prstDash val="solid"/>
          </a:ln>
        </p:spPr>
      </p:sp>
      <p:sp>
        <p:nvSpPr>
          <p:cNvPr id="9" name="Text 6"/>
          <p:cNvSpPr txBox="1"/>
          <p:nvPr/>
        </p:nvSpPr>
        <p:spPr>
          <a:xfrm>
            <a:off x="5029200" y="1481328"/>
            <a:ext cx="3520440" cy="1005840"/>
          </a:xfrm>
          <a:prstGeom prst="rect">
            <a:avLst/>
          </a:prstGeom>
          <a:noFill/>
          <a:ln/>
        </p:spPr>
        <p:txBody>
          <a:bodyPr wrap="square" lIns="0" tIns="0" rIns="0" bIns="0" rtlCol="0" anchor="t"/>
          <a:lstStyle/>
          <a:p>
            <a:pPr indent="0" marL="0">
              <a:buNone/>
            </a:pPr>
            <a:r>
              <a:rPr lang="en-US" sz="1400" b="1" dirty="0">
                <a:solidFill>
                  <a:schemeClr val="accent4"/>
                </a:solidFill>
              </a:rPr>
              <a:t>thread_id = ops-morning</a:t>
            </a:r>
            <a:endParaRPr lang="en-US" sz="1400" dirty="0"/>
          </a:p>
          <a:p>
            <a:pPr indent="0" marL="0">
              <a:buNone/>
            </a:pPr>
            <a:r>
              <a:rPr lang="en-US" sz="1100" dirty="0">
                <a:solidFill>
                  <a:schemeClr val="accent6"/>
                </a:solidFill>
              </a:rPr>
              <a:t>20 messages saved</a:t>
            </a:r>
            <a:endParaRPr lang="en-US" sz="1400" dirty="0"/>
          </a:p>
          <a:p>
            <a:pPr indent="0" marL="0">
              <a:buNone/>
            </a:pPr>
            <a:r>
              <a:rPr lang="en-US" sz="1300" dirty="0">
                <a:solidFill>
                  <a:schemeClr val="tx1"/>
                </a:solidFill>
              </a:rPr>
              <a:t>"That Brazil shipment" → PO-2211 from turn 1</a:t>
            </a:r>
            <a:endParaRPr lang="en-US" sz="1400" dirty="0"/>
          </a:p>
        </p:txBody>
      </p:sp>
      <p:sp>
        <p:nvSpPr>
          <p:cNvPr id="10" name="thread_id = new-shift card"/>
          <p:cNvSpPr/>
          <p:nvPr/>
        </p:nvSpPr>
        <p:spPr>
          <a:xfrm>
            <a:off x="4846320" y="2834640"/>
            <a:ext cx="3840480" cy="1234440"/>
          </a:xfrm>
          <a:prstGeom prst="roundRect">
            <a:avLst>
              <a:gd name="adj" fmla="val 5926"/>
            </a:avLst>
          </a:prstGeom>
          <a:solidFill>
            <a:schemeClr val="bg2"/>
          </a:solidFill>
          <a:ln w="12700">
            <a:solidFill>
              <a:schemeClr val="bg2"/>
            </a:solidFill>
            <a:prstDash val="solid"/>
          </a:ln>
        </p:spPr>
      </p:sp>
      <p:sp>
        <p:nvSpPr>
          <p:cNvPr id="11" name="Text 8"/>
          <p:cNvSpPr txBox="1"/>
          <p:nvPr/>
        </p:nvSpPr>
        <p:spPr>
          <a:xfrm>
            <a:off x="5029200" y="2944368"/>
            <a:ext cx="3520440" cy="1005840"/>
          </a:xfrm>
          <a:prstGeom prst="rect">
            <a:avLst/>
          </a:prstGeom>
          <a:noFill/>
          <a:ln/>
        </p:spPr>
        <p:txBody>
          <a:bodyPr wrap="square" lIns="0" tIns="0" rIns="0" bIns="0" rtlCol="0" anchor="t"/>
          <a:lstStyle/>
          <a:p>
            <a:pPr indent="0" marL="0">
              <a:buNone/>
            </a:pPr>
            <a:r>
              <a:rPr lang="en-US" sz="1400" b="1" dirty="0">
                <a:solidFill>
                  <a:schemeClr val="accent6"/>
                </a:solidFill>
              </a:rPr>
              <a:t>thread_id = new-shift</a:t>
            </a:r>
            <a:endParaRPr lang="en-US" sz="1400" dirty="0"/>
          </a:p>
          <a:p>
            <a:pPr indent="0" marL="0">
              <a:buNone/>
            </a:pPr>
            <a:r>
              <a:rPr lang="en-US" sz="1100" dirty="0">
                <a:solidFill>
                  <a:schemeClr val="accent6"/>
                </a:solidFill>
              </a:rPr>
              <a:t>4 messages saved</a:t>
            </a:r>
            <a:endParaRPr lang="en-US" sz="1400" dirty="0"/>
          </a:p>
          <a:p>
            <a:pPr indent="0" marL="0">
              <a:buNone/>
            </a:pPr>
            <a:r>
              <a:rPr lang="en-US" sz="1300" dirty="0">
                <a:solidFill>
                  <a:schemeClr val="tx1"/>
                </a:solidFill>
              </a:rPr>
              <a:t>"When does my PO arrive?" → can't tell which PO, lists all open POs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LIVE GEMINI RUN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2800" b="1" dirty="0">
                <a:solidFill>
                  <a:schemeClr val="tx2"/>
                </a:solidFill>
              </a:rPr>
              <a:t>Demo: five messages, five routed answers</a:t>
            </a:r>
            <a:endParaRPr lang="en-US" sz="2800" dirty="0"/>
          </a:p>
        </p:txBody>
      </p:sp>
      <p:sp>
        <p:nvSpPr>
          <p:cNvPr id="4" name="Turn 1 agent chip"/>
          <p:cNvSpPr/>
          <p:nvPr/>
        </p:nvSpPr>
        <p:spPr>
          <a:xfrm>
            <a:off x="457200" y="1417320"/>
            <a:ext cx="1234440" cy="365760"/>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457200" y="1417320"/>
            <a:ext cx="1234440" cy="365760"/>
          </a:xfrm>
          <a:prstGeom prst="rect">
            <a:avLst/>
          </a:prstGeom>
          <a:noFill/>
          <a:ln/>
        </p:spPr>
        <p:txBody>
          <a:bodyPr wrap="square" lIns="0" tIns="0" rIns="0" bIns="0" rtlCol="0" anchor="ctr"/>
          <a:lstStyle/>
          <a:p>
            <a:pPr algn="ctr" indent="0" marL="0">
              <a:buNone/>
            </a:pPr>
            <a:r>
              <a:rPr lang="en-US" sz="1200" b="1" dirty="0">
                <a:solidFill>
                  <a:schemeClr val="bg1"/>
                </a:solidFill>
              </a:rPr>
              <a:t>Inventory</a:t>
            </a:r>
            <a:endParaRPr lang="en-US" sz="1200" dirty="0"/>
          </a:p>
        </p:txBody>
      </p:sp>
      <p:sp>
        <p:nvSpPr>
          <p:cNvPr id="6" name="Text 4"/>
          <p:cNvSpPr txBox="1"/>
          <p:nvPr/>
        </p:nvSpPr>
        <p:spPr>
          <a:xfrm>
            <a:off x="1874520" y="1325880"/>
            <a:ext cx="3566160" cy="548640"/>
          </a:xfrm>
          <a:prstGeom prst="rect">
            <a:avLst/>
          </a:prstGeom>
          <a:noFill/>
          <a:ln/>
        </p:spPr>
        <p:txBody>
          <a:bodyPr wrap="square" lIns="0" tIns="0" rIns="0" bIns="0" rtlCol="0" anchor="ctr"/>
          <a:lstStyle/>
          <a:p>
            <a:pPr indent="0" marL="0">
              <a:buNone/>
            </a:pPr>
            <a:r>
              <a:rPr lang="en-US" sz="1300" i="1" dirty="0">
                <a:solidFill>
                  <a:schemeClr val="tx2"/>
                </a:solidFill>
              </a:rPr>
              <a:t>"Are we going to run out of Brazil Cerrado?"</a:t>
            </a:r>
            <a:endParaRPr lang="en-US" sz="1300" dirty="0"/>
          </a:p>
        </p:txBody>
      </p:sp>
      <p:sp>
        <p:nvSpPr>
          <p:cNvPr id="7" name="Text 5"/>
          <p:cNvSpPr txBox="1"/>
          <p:nvPr/>
        </p:nvSpPr>
        <p:spPr>
          <a:xfrm>
            <a:off x="5532120" y="1325880"/>
            <a:ext cx="3154680" cy="548640"/>
          </a:xfrm>
          <a:prstGeom prst="rect">
            <a:avLst/>
          </a:prstGeom>
          <a:noFill/>
          <a:ln/>
        </p:spPr>
        <p:txBody>
          <a:bodyPr wrap="square" lIns="0" tIns="0" rIns="0" bIns="0" rtlCol="0" anchor="ctr"/>
          <a:lstStyle/>
          <a:p>
            <a:pPr indent="0" marL="0">
              <a:buNone/>
            </a:pPr>
            <a:r>
              <a:rPr lang="en-US" sz="1300" dirty="0">
                <a:solidFill>
                  <a:schemeClr val="tx1"/>
                </a:solidFill>
              </a:rPr>
              <a:t>Yes: stockout Nov 3, 6 days short, ~380 lb</a:t>
            </a:r>
            <a:endParaRPr lang="en-US" sz="1300" dirty="0"/>
          </a:p>
        </p:txBody>
      </p:sp>
      <p:sp>
        <p:nvSpPr>
          <p:cNvPr id="8" name="Turn 2 agent chip"/>
          <p:cNvSpPr/>
          <p:nvPr/>
        </p:nvSpPr>
        <p:spPr>
          <a:xfrm>
            <a:off x="457200" y="2057400"/>
            <a:ext cx="1234440" cy="365760"/>
          </a:xfrm>
          <a:prstGeom prst="roundRect">
            <a:avLst>
              <a:gd name="adj" fmla="val 50000"/>
            </a:avLst>
          </a:prstGeom>
          <a:solidFill>
            <a:schemeClr val="accent2"/>
          </a:solidFill>
          <a:ln w="12700">
            <a:solidFill>
              <a:schemeClr val="accent2"/>
            </a:solidFill>
            <a:prstDash val="solid"/>
          </a:ln>
        </p:spPr>
      </p:sp>
      <p:sp>
        <p:nvSpPr>
          <p:cNvPr id="9" name="Text 7"/>
          <p:cNvSpPr txBox="1"/>
          <p:nvPr/>
        </p:nvSpPr>
        <p:spPr>
          <a:xfrm>
            <a:off x="457200" y="2057400"/>
            <a:ext cx="1234440" cy="365760"/>
          </a:xfrm>
          <a:prstGeom prst="rect">
            <a:avLst/>
          </a:prstGeom>
          <a:noFill/>
          <a:ln/>
        </p:spPr>
        <p:txBody>
          <a:bodyPr wrap="square" lIns="0" tIns="0" rIns="0" bIns="0" rtlCol="0" anchor="ctr"/>
          <a:lstStyle/>
          <a:p>
            <a:pPr algn="ctr" indent="0" marL="0">
              <a:buNone/>
            </a:pPr>
            <a:r>
              <a:rPr lang="en-US" sz="1200" b="1" dirty="0">
                <a:solidFill>
                  <a:schemeClr val="bg1"/>
                </a:solidFill>
              </a:rPr>
              <a:t>Logistics</a:t>
            </a:r>
            <a:endParaRPr lang="en-US" sz="1200" dirty="0"/>
          </a:p>
        </p:txBody>
      </p:sp>
      <p:sp>
        <p:nvSpPr>
          <p:cNvPr id="10" name="Text 8"/>
          <p:cNvSpPr txBox="1"/>
          <p:nvPr/>
        </p:nvSpPr>
        <p:spPr>
          <a:xfrm>
            <a:off x="1874520" y="1965960"/>
            <a:ext cx="3566160" cy="548640"/>
          </a:xfrm>
          <a:prstGeom prst="rect">
            <a:avLst/>
          </a:prstGeom>
          <a:noFill/>
          <a:ln/>
        </p:spPr>
        <p:txBody>
          <a:bodyPr wrap="square" lIns="0" tIns="0" rIns="0" bIns="0" rtlCol="0" anchor="ctr"/>
          <a:lstStyle/>
          <a:p>
            <a:pPr indent="0" marL="0">
              <a:buNone/>
            </a:pPr>
            <a:r>
              <a:rPr lang="en-US" sz="1300" i="1" dirty="0">
                <a:solidFill>
                  <a:schemeClr val="tx2"/>
                </a:solidFill>
              </a:rPr>
              <a:t>"That Brazil shipment, is it on schedule?"</a:t>
            </a:r>
            <a:endParaRPr lang="en-US" sz="1300" dirty="0"/>
          </a:p>
        </p:txBody>
      </p:sp>
      <p:sp>
        <p:nvSpPr>
          <p:cNvPr id="11" name="Text 9"/>
          <p:cNvSpPr txBox="1"/>
          <p:nvPr/>
        </p:nvSpPr>
        <p:spPr>
          <a:xfrm>
            <a:off x="5532120" y="1965960"/>
            <a:ext cx="3154680" cy="548640"/>
          </a:xfrm>
          <a:prstGeom prst="rect">
            <a:avLst/>
          </a:prstGeom>
          <a:noFill/>
          <a:ln/>
        </p:spPr>
        <p:txBody>
          <a:bodyPr wrap="square" lIns="0" tIns="0" rIns="0" bIns="0" rtlCol="0" anchor="ctr"/>
          <a:lstStyle/>
          <a:p>
            <a:pPr indent="0" marL="0">
              <a:buNone/>
            </a:pPr>
            <a:r>
              <a:rPr lang="en-US" sz="1300" dirty="0">
                <a:solidFill>
                  <a:schemeClr val="tx1"/>
                </a:solidFill>
              </a:rPr>
              <a:t>PO-2211 is 7 days late, new ETA Nov 9</a:t>
            </a:r>
            <a:endParaRPr lang="en-US" sz="1300" dirty="0"/>
          </a:p>
        </p:txBody>
      </p:sp>
      <p:sp>
        <p:nvSpPr>
          <p:cNvPr id="12" name="Turn 3 agent chip"/>
          <p:cNvSpPr/>
          <p:nvPr/>
        </p:nvSpPr>
        <p:spPr>
          <a:xfrm>
            <a:off x="457200" y="2697480"/>
            <a:ext cx="1234440" cy="365760"/>
          </a:xfrm>
          <a:prstGeom prst="roundRect">
            <a:avLst>
              <a:gd name="adj" fmla="val 50000"/>
            </a:avLst>
          </a:prstGeom>
          <a:solidFill>
            <a:schemeClr val="accent3"/>
          </a:solidFill>
          <a:ln w="12700">
            <a:solidFill>
              <a:schemeClr val="accent3"/>
            </a:solidFill>
            <a:prstDash val="solid"/>
          </a:ln>
        </p:spPr>
      </p:sp>
      <p:sp>
        <p:nvSpPr>
          <p:cNvPr id="13" name="Text 11"/>
          <p:cNvSpPr txBox="1"/>
          <p:nvPr/>
        </p:nvSpPr>
        <p:spPr>
          <a:xfrm>
            <a:off x="457200" y="2697480"/>
            <a:ext cx="1234440" cy="365760"/>
          </a:xfrm>
          <a:prstGeom prst="rect">
            <a:avLst/>
          </a:prstGeom>
          <a:noFill/>
          <a:ln/>
        </p:spPr>
        <p:txBody>
          <a:bodyPr wrap="square" lIns="0" tIns="0" rIns="0" bIns="0" rtlCol="0" anchor="ctr"/>
          <a:lstStyle/>
          <a:p>
            <a:pPr algn="ctr" indent="0" marL="0">
              <a:buNone/>
            </a:pPr>
            <a:r>
              <a:rPr lang="en-US" sz="1200" b="1" dirty="0">
                <a:solidFill>
                  <a:schemeClr val="bg1"/>
                </a:solidFill>
              </a:rPr>
              <a:t>Procurement</a:t>
            </a:r>
            <a:endParaRPr lang="en-US" sz="1200" dirty="0"/>
          </a:p>
        </p:txBody>
      </p:sp>
      <p:sp>
        <p:nvSpPr>
          <p:cNvPr id="14" name="Text 12"/>
          <p:cNvSpPr txBox="1"/>
          <p:nvPr/>
        </p:nvSpPr>
        <p:spPr>
          <a:xfrm>
            <a:off x="1874520" y="2606040"/>
            <a:ext cx="3566160" cy="548640"/>
          </a:xfrm>
          <a:prstGeom prst="rect">
            <a:avLst/>
          </a:prstGeom>
          <a:noFill/>
          <a:ln/>
        </p:spPr>
        <p:txBody>
          <a:bodyPr wrap="square" lIns="0" tIns="0" rIns="0" bIns="0" rtlCol="0" anchor="ctr"/>
          <a:lstStyle/>
          <a:p>
            <a:pPr indent="0" marL="0">
              <a:buNone/>
            </a:pPr>
            <a:r>
              <a:rPr lang="en-US" sz="1300" i="1" dirty="0">
                <a:solidFill>
                  <a:schemeClr val="tx2"/>
                </a:solidFill>
              </a:rPr>
              <a:t>"Who can bridge the gap, and what will it cost?"</a:t>
            </a:r>
            <a:endParaRPr lang="en-US" sz="1300" dirty="0"/>
          </a:p>
        </p:txBody>
      </p:sp>
      <p:sp>
        <p:nvSpPr>
          <p:cNvPr id="15" name="Text 13"/>
          <p:cNvSpPr txBox="1"/>
          <p:nvPr/>
        </p:nvSpPr>
        <p:spPr>
          <a:xfrm>
            <a:off x="5532120" y="2606040"/>
            <a:ext cx="3154680" cy="548640"/>
          </a:xfrm>
          <a:prstGeom prst="rect">
            <a:avLst/>
          </a:prstGeom>
          <a:noFill/>
          <a:ln/>
        </p:spPr>
        <p:txBody>
          <a:bodyPr wrap="square" lIns="0" tIns="0" rIns="0" bIns="0" rtlCol="0" anchor="ctr"/>
          <a:lstStyle/>
          <a:p>
            <a:pPr indent="0" marL="0">
              <a:buNone/>
            </a:pPr>
            <a:r>
              <a:rPr lang="en-US" sz="1300" dirty="0">
                <a:solidFill>
                  <a:schemeClr val="tx1"/>
                </a:solidFill>
              </a:rPr>
              <a:t>Bay Area Green Coffee: $4.10/lb, here Oct 29</a:t>
            </a:r>
            <a:endParaRPr lang="en-US" sz="1300" dirty="0"/>
          </a:p>
        </p:txBody>
      </p:sp>
      <p:sp>
        <p:nvSpPr>
          <p:cNvPr id="16" name="Turn 4 agent chip"/>
          <p:cNvSpPr/>
          <p:nvPr/>
        </p:nvSpPr>
        <p:spPr>
          <a:xfrm>
            <a:off x="457200" y="3337560"/>
            <a:ext cx="1234440" cy="365760"/>
          </a:xfrm>
          <a:prstGeom prst="roundRect">
            <a:avLst>
              <a:gd name="adj" fmla="val 50000"/>
            </a:avLst>
          </a:prstGeom>
          <a:solidFill>
            <a:schemeClr val="accent3"/>
          </a:solidFill>
          <a:ln w="12700">
            <a:solidFill>
              <a:schemeClr val="accent3"/>
            </a:solidFill>
            <a:prstDash val="solid"/>
          </a:ln>
        </p:spPr>
      </p:sp>
      <p:sp>
        <p:nvSpPr>
          <p:cNvPr id="17" name="Text 15"/>
          <p:cNvSpPr txBox="1"/>
          <p:nvPr/>
        </p:nvSpPr>
        <p:spPr>
          <a:xfrm>
            <a:off x="457200" y="3337560"/>
            <a:ext cx="1234440" cy="365760"/>
          </a:xfrm>
          <a:prstGeom prst="rect">
            <a:avLst/>
          </a:prstGeom>
          <a:noFill/>
          <a:ln/>
        </p:spPr>
        <p:txBody>
          <a:bodyPr wrap="square" lIns="0" tIns="0" rIns="0" bIns="0" rtlCol="0" anchor="ctr"/>
          <a:lstStyle/>
          <a:p>
            <a:pPr algn="ctr" indent="0" marL="0">
              <a:buNone/>
            </a:pPr>
            <a:r>
              <a:rPr lang="en-US" sz="1200" b="1" dirty="0">
                <a:solidFill>
                  <a:schemeClr val="bg1"/>
                </a:solidFill>
              </a:rPr>
              <a:t>Procurement</a:t>
            </a:r>
            <a:endParaRPr lang="en-US" sz="1200" dirty="0"/>
          </a:p>
        </p:txBody>
      </p:sp>
      <p:sp>
        <p:nvSpPr>
          <p:cNvPr id="18" name="Text 16"/>
          <p:cNvSpPr txBox="1"/>
          <p:nvPr/>
        </p:nvSpPr>
        <p:spPr>
          <a:xfrm>
            <a:off x="1874520" y="3246120"/>
            <a:ext cx="3566160" cy="548640"/>
          </a:xfrm>
          <a:prstGeom prst="rect">
            <a:avLst/>
          </a:prstGeom>
          <a:noFill/>
          <a:ln/>
        </p:spPr>
        <p:txBody>
          <a:bodyPr wrap="square" lIns="0" tIns="0" rIns="0" bIns="0" rtlCol="0" anchor="ctr"/>
          <a:lstStyle/>
          <a:p>
            <a:pPr indent="0" marL="0">
              <a:buNone/>
            </a:pPr>
            <a:r>
              <a:rPr lang="en-US" sz="1300" i="1" dirty="0">
                <a:solidFill>
                  <a:schemeClr val="tx2"/>
                </a:solidFill>
              </a:rPr>
              <a:t>"Go with the fastest option. Order 500 lb."</a:t>
            </a:r>
            <a:endParaRPr lang="en-US" sz="1300" dirty="0"/>
          </a:p>
        </p:txBody>
      </p:sp>
      <p:sp>
        <p:nvSpPr>
          <p:cNvPr id="19" name="Text 17"/>
          <p:cNvSpPr txBox="1"/>
          <p:nvPr/>
        </p:nvSpPr>
        <p:spPr>
          <a:xfrm>
            <a:off x="5532120" y="3246120"/>
            <a:ext cx="3154680" cy="548640"/>
          </a:xfrm>
          <a:prstGeom prst="rect">
            <a:avLst/>
          </a:prstGeom>
          <a:noFill/>
          <a:ln/>
        </p:spPr>
        <p:txBody>
          <a:bodyPr wrap="square" lIns="0" tIns="0" rIns="0" bIns="0" rtlCol="0" anchor="ctr"/>
          <a:lstStyle/>
          <a:p>
            <a:pPr indent="0" marL="0">
              <a:buNone/>
            </a:pPr>
            <a:r>
              <a:rPr lang="en-US" sz="1300" dirty="0">
                <a:solidFill>
                  <a:schemeClr val="tx1"/>
                </a:solidFill>
              </a:rPr>
              <a:t>PO-2231 placed: $2,050, arrives Oct 29</a:t>
            </a:r>
            <a:endParaRPr lang="en-US" sz="1300" dirty="0"/>
          </a:p>
        </p:txBody>
      </p:sp>
      <p:sp>
        <p:nvSpPr>
          <p:cNvPr id="20" name="Turn 5 agent chip"/>
          <p:cNvSpPr/>
          <p:nvPr/>
        </p:nvSpPr>
        <p:spPr>
          <a:xfrm>
            <a:off x="457200" y="3977640"/>
            <a:ext cx="1234440" cy="365760"/>
          </a:xfrm>
          <a:prstGeom prst="roundRect">
            <a:avLst>
              <a:gd name="adj" fmla="val 50000"/>
            </a:avLst>
          </a:prstGeom>
          <a:solidFill>
            <a:schemeClr val="accent4"/>
          </a:solidFill>
          <a:ln w="12700">
            <a:solidFill>
              <a:schemeClr val="accent4"/>
            </a:solidFill>
            <a:prstDash val="solid"/>
          </a:ln>
        </p:spPr>
      </p:sp>
      <p:sp>
        <p:nvSpPr>
          <p:cNvPr id="21" name="Text 19"/>
          <p:cNvSpPr txBox="1"/>
          <p:nvPr/>
        </p:nvSpPr>
        <p:spPr>
          <a:xfrm>
            <a:off x="457200" y="3977640"/>
            <a:ext cx="1234440" cy="365760"/>
          </a:xfrm>
          <a:prstGeom prst="rect">
            <a:avLst/>
          </a:prstGeom>
          <a:noFill/>
          <a:ln/>
        </p:spPr>
        <p:txBody>
          <a:bodyPr wrap="square" lIns="0" tIns="0" rIns="0" bIns="0" rtlCol="0" anchor="ctr"/>
          <a:lstStyle/>
          <a:p>
            <a:pPr algn="ctr" indent="0" marL="0">
              <a:buNone/>
            </a:pPr>
            <a:r>
              <a:rPr lang="en-US" sz="1200" b="1" dirty="0">
                <a:solidFill>
                  <a:schemeClr val="bg1"/>
                </a:solidFill>
              </a:rPr>
              <a:t>General</a:t>
            </a:r>
            <a:endParaRPr lang="en-US" sz="1200" dirty="0"/>
          </a:p>
        </p:txBody>
      </p:sp>
      <p:sp>
        <p:nvSpPr>
          <p:cNvPr id="22" name="Text 20"/>
          <p:cNvSpPr txBox="1"/>
          <p:nvPr/>
        </p:nvSpPr>
        <p:spPr>
          <a:xfrm>
            <a:off x="1874520" y="3886200"/>
            <a:ext cx="3566160" cy="548640"/>
          </a:xfrm>
          <a:prstGeom prst="rect">
            <a:avLst/>
          </a:prstGeom>
          <a:noFill/>
          <a:ln/>
        </p:spPr>
        <p:txBody>
          <a:bodyPr wrap="square" lIns="0" tIns="0" rIns="0" bIns="0" rtlCol="0" anchor="ctr"/>
          <a:lstStyle/>
          <a:p>
            <a:pPr indent="0" marL="0">
              <a:buNone/>
            </a:pPr>
            <a:r>
              <a:rPr lang="en-US" sz="1300" i="1" dirty="0">
                <a:solidFill>
                  <a:schemeClr val="tx2"/>
                </a:solidFill>
              </a:rPr>
              <a:t>"Recap: new PO, and when the late one lands?"</a:t>
            </a:r>
            <a:endParaRPr lang="en-US" sz="1300" dirty="0"/>
          </a:p>
        </p:txBody>
      </p:sp>
      <p:sp>
        <p:nvSpPr>
          <p:cNvPr id="23" name="Text 21"/>
          <p:cNvSpPr txBox="1"/>
          <p:nvPr/>
        </p:nvSpPr>
        <p:spPr>
          <a:xfrm>
            <a:off x="5532120" y="3886200"/>
            <a:ext cx="3154680" cy="548640"/>
          </a:xfrm>
          <a:prstGeom prst="rect">
            <a:avLst/>
          </a:prstGeom>
          <a:noFill/>
          <a:ln/>
        </p:spPr>
        <p:txBody>
          <a:bodyPr wrap="square" lIns="0" tIns="0" rIns="0" bIns="0" rtlCol="0" anchor="ctr"/>
          <a:lstStyle/>
          <a:p>
            <a:pPr indent="0" marL="0">
              <a:buNone/>
            </a:pPr>
            <a:r>
              <a:rPr lang="en-US" sz="1300" dirty="0">
                <a:solidFill>
                  <a:schemeClr val="tx1"/>
                </a:solidFill>
              </a:rPr>
              <a:t>From memory: PO-2231 Oct 29, PO-2211 Nov 9</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Ridgeline Supply Chain">
  <a:themeElements>
    <a:clrScheme name="Ridgeline Supply Chain">
      <a:dk1>
        <a:srgbClr val="1F1A17"/>
      </a:dk1>
      <a:lt1>
        <a:srgbClr val="FFFFFF"/>
      </a:lt1>
      <a:dk2>
        <a:srgbClr val="3B2A20"/>
      </a:dk2>
      <a:lt2>
        <a:srgbClr val="EEF2F1"/>
      </a:lt2>
      <a:accent1>
        <a:srgbClr val="1F7A6E"/>
      </a:accent1>
      <a:accent2>
        <a:srgbClr val="C8873A"/>
      </a:accent2>
      <a:accent3>
        <a:srgbClr val="6B4FA0"/>
      </a:accent3>
      <a:accent4>
        <a:srgbClr val="3E8E41"/>
      </a:accent4>
      <a:accent5>
        <a:srgbClr val="B23A3A"/>
      </a:accent5>
      <a:accent6>
        <a:srgbClr val="8A8F98"/>
      </a:accent6>
      <a:hlink>
        <a:srgbClr val="1F7A6E"/>
      </a:hlink>
      <a:folHlink>
        <a:srgbClr val="6B4FA0"/>
      </a:folHlink>
    </a:clrScheme>
    <a:fontScheme name="Ridgeline Supply Ch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in Supply Chain</dc:title>
  <dc:subject>PptxGenJS Presentation</dc:subject>
  <dc:creator>Ebaaddies</dc:creator>
  <cp:lastModifiedBy>Ebaaddies</cp:lastModifiedBy>
  <cp:revision>1</cp:revision>
  <dcterms:created xsi:type="dcterms:W3CDTF">2026-10-26T23:49:28Z</dcterms:created>
  <dcterms:modified xsi:type="dcterms:W3CDTF">2026-10-26T23:49:28Z</dcterms:modified>
</cp:coreProperties>
</file>